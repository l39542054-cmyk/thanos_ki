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Default Extension="glb" ContentType="model/gltf.binary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5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3.glb"/><Relationship Id="rId105" Type="http://schemas.openxmlformats.org/officeDocument/2006/relationships/image" Target="../media/m3d_image15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3.glb"/><Relationship Id="rId105" Type="http://schemas.openxmlformats.org/officeDocument/2006/relationships/image" Target="../media/m3d_image15.png"/><Relationship Id="rId106" Type="http://schemas.microsoft.com/office/2017/06/relationships/model3d" Target="../media/m3d_model3d4.glb"/><Relationship Id="rId107" Type="http://schemas.openxmlformats.org/officeDocument/2006/relationships/image" Target="../media/m3d_image19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4.glb"/><Relationship Id="rId105" Type="http://schemas.openxmlformats.org/officeDocument/2006/relationships/image" Target="../media/m3d_image19.png"/><Relationship Id="rId106" Type="http://schemas.microsoft.com/office/2017/06/relationships/model3d" Target="../media/m3d_model3d5.glb"/><Relationship Id="rId107" Type="http://schemas.openxmlformats.org/officeDocument/2006/relationships/image" Target="../media/m3d_image21.png"/><Relationship Id="rId108" Type="http://schemas.microsoft.com/office/2017/06/relationships/model3d" Target="../media/m3d_model3d6.glb"/><Relationship Id="rId109" Type="http://schemas.openxmlformats.org/officeDocument/2006/relationships/image" Target="../media/m3d_image22.png"/><Relationship Id="rId110" Type="http://schemas.microsoft.com/office/2017/06/relationships/model3d" Target="../media/m3d_model3d3.glb"/><Relationship Id="rId111" Type="http://schemas.openxmlformats.org/officeDocument/2006/relationships/image" Target="../media/m3d_image15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5.glb"/><Relationship Id="rId105" Type="http://schemas.openxmlformats.org/officeDocument/2006/relationships/image" Target="../media/m3d_image21.png"/><Relationship Id="rId106" Type="http://schemas.microsoft.com/office/2017/06/relationships/model3d" Target="../media/m3d_model3d6.glb"/><Relationship Id="rId107" Type="http://schemas.openxmlformats.org/officeDocument/2006/relationships/image" Target="../media/m3d_image22.png"/><Relationship Id="rId108" Type="http://schemas.microsoft.com/office/2017/06/relationships/model3d" Target="../media/m3d_model3d7.glb"/><Relationship Id="rId109" Type="http://schemas.openxmlformats.org/officeDocument/2006/relationships/image" Target="../media/m3d_image28.png"/><Relationship Id="rId110" Type="http://schemas.microsoft.com/office/2017/06/relationships/model3d" Target="../media/m3d_model3d4.glb"/><Relationship Id="rId111" Type="http://schemas.openxmlformats.org/officeDocument/2006/relationships/image" Target="../media/m3d_image19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7.glb"/><Relationship Id="rId105" Type="http://schemas.openxmlformats.org/officeDocument/2006/relationships/image" Target="../media/m3d_image28.png"/><Relationship Id="rId106" Type="http://schemas.microsoft.com/office/2017/06/relationships/model3d" Target="../media/m3d_model3d6.glb"/><Relationship Id="rId107" Type="http://schemas.openxmlformats.org/officeDocument/2006/relationships/image" Target="../media/m3d_image22.png"/><Relationship Id="rId108" Type="http://schemas.microsoft.com/office/2017/06/relationships/model3d" Target="../media/m3d_model3d8.glb"/><Relationship Id="rId109" Type="http://schemas.openxmlformats.org/officeDocument/2006/relationships/image" Target="../media/m3d_image30.png"/><Relationship Id="rId110" Type="http://schemas.microsoft.com/office/2017/06/relationships/model3d" Target="../media/m3d_model3d5.glb"/><Relationship Id="rId111" Type="http://schemas.openxmlformats.org/officeDocument/2006/relationships/image" Target="../media/m3d_image21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8.glb"/><Relationship Id="rId105" Type="http://schemas.openxmlformats.org/officeDocument/2006/relationships/image" Target="../media/m3d_image30.png"/><Relationship Id="rId106" Type="http://schemas.microsoft.com/office/2017/06/relationships/model3d" Target="../media/m3d_model3d6.glb"/><Relationship Id="rId107" Type="http://schemas.openxmlformats.org/officeDocument/2006/relationships/image" Target="../media/m3d_image22.png"/><Relationship Id="rId108" Type="http://schemas.microsoft.com/office/2017/06/relationships/model3d" Target="../media/m3d_model3d3.glb"/><Relationship Id="rId109" Type="http://schemas.openxmlformats.org/officeDocument/2006/relationships/image" Target="../media/m3d_image33.png"/><Relationship Id="rId110" Type="http://schemas.microsoft.com/office/2017/06/relationships/model3d" Target="../media/m3d_model3d7.glb"/><Relationship Id="rId111" Type="http://schemas.openxmlformats.org/officeDocument/2006/relationships/image" Target="../media/m3d_image28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3.glb"/><Relationship Id="rId105" Type="http://schemas.openxmlformats.org/officeDocument/2006/relationships/image" Target="../media/m3d_image33.png"/><Relationship Id="rId106" Type="http://schemas.microsoft.com/office/2017/06/relationships/model3d" Target="../media/m3d_model3d6.glb"/><Relationship Id="rId107" Type="http://schemas.openxmlformats.org/officeDocument/2006/relationships/image" Target="../media/m3d_image22.png"/><Relationship Id="rId108" Type="http://schemas.microsoft.com/office/2017/06/relationships/model3d" Target="../media/m3d_model3d5.glb"/><Relationship Id="rId109" Type="http://schemas.openxmlformats.org/officeDocument/2006/relationships/image" Target="../media/m3d_image21.png"/><Relationship Id="rId110" Type="http://schemas.microsoft.com/office/2017/06/relationships/model3d" Target="../media/m3d_model3d8.glb"/><Relationship Id="rId111" Type="http://schemas.openxmlformats.org/officeDocument/2006/relationships/image" Target="../media/m3d_image30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5.glb"/><Relationship Id="rId105" Type="http://schemas.openxmlformats.org/officeDocument/2006/relationships/image" Target="../media/m3d_image21.png"/><Relationship Id="rId106" Type="http://schemas.microsoft.com/office/2017/06/relationships/model3d" Target="../media/m3d_model3d6.glb"/><Relationship Id="rId107" Type="http://schemas.openxmlformats.org/officeDocument/2006/relationships/image" Target="../media/m3d_image22.png"/><Relationship Id="rId108" Type="http://schemas.microsoft.com/office/2017/06/relationships/model3d" Target="../media/m3d_model3d3.glb"/><Relationship Id="rId109" Type="http://schemas.openxmlformats.org/officeDocument/2006/relationships/image" Target="../media/m3d_image33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9.glb"/><Relationship Id="rId105" Type="http://schemas.openxmlformats.org/officeDocument/2006/relationships/image" Target="../media/m3d_image46.png"/><Relationship Id="rId106" Type="http://schemas.microsoft.com/office/2017/06/relationships/model3d" Target="../media/m3d_model3d5.glb"/><Relationship Id="rId107" Type="http://schemas.openxmlformats.org/officeDocument/2006/relationships/image" Target="../media/m3d_image21.png"/><Relationship Id="rId108" Type="http://schemas.microsoft.com/office/2017/06/relationships/model3d" Target="../media/m3d_model3d6.glb"/><Relationship Id="rId109" Type="http://schemas.openxmlformats.org/officeDocument/2006/relationships/image" Target="../media/m3d_image22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9.glb"/><Relationship Id="rId105" Type="http://schemas.openxmlformats.org/officeDocument/2006/relationships/image" Target="../media/m3d_image46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9.glb"/><Relationship Id="rId105" Type="http://schemas.openxmlformats.org/officeDocument/2006/relationships/image" Target="../media/m3d_image46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jp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10.glb"/><Relationship Id="rId105" Type="http://schemas.openxmlformats.org/officeDocument/2006/relationships/image" Target="../media/m3d_image65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10.glb"/><Relationship Id="rId105" Type="http://schemas.openxmlformats.org/officeDocument/2006/relationships/image" Target="../media/m3d_image65.png"/><Relationship Id="rId106" Type="http://schemas.microsoft.com/office/2017/06/relationships/model3d" Target="../media/m3d_model3d3.glb"/><Relationship Id="rId107" Type="http://schemas.openxmlformats.org/officeDocument/2006/relationships/image" Target="../media/m3d_image33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Relationship Id="rId100" Type="http://schemas.microsoft.com/office/2017/06/relationships/model3d" Target="../media/m3d_model3d1.glb"/><Relationship Id="rId101" Type="http://schemas.openxmlformats.org/officeDocument/2006/relationships/image" Target="../media/m3d_image2.png"/><Relationship Id="rId102" Type="http://schemas.microsoft.com/office/2017/06/relationships/model3d" Target="../media/m3d_model3d2.glb"/><Relationship Id="rId103" Type="http://schemas.openxmlformats.org/officeDocument/2006/relationships/image" Target="../media/m3d_image3.png"/><Relationship Id="rId104" Type="http://schemas.microsoft.com/office/2017/06/relationships/model3d" Target="../media/m3d_model3d3.glb"/><Relationship Id="rId105" Type="http://schemas.openxmlformats.org/officeDocument/2006/relationships/image" Target="../media/m3d_image33.png"/><Relationship Id="rId106" Type="http://schemas.microsoft.com/office/2017/06/relationships/model3d" Target="../media/m3d_model3d10.glb"/><Relationship Id="rId107" Type="http://schemas.openxmlformats.org/officeDocument/2006/relationships/image" Target="../media/m3d_image66.png"/><Relationship Id="rId90" Type="http://schemas.openxmlformats.org/officeDocument/2006/relationships/video" Target="../media/media1.mp4"/><Relationship Id="rId91" Type="http://schemas.microsoft.com/office/2007/relationships/media" Target="../media/media1.mp4"/><Relationship Id="rId92" Type="http://schemas.openxmlformats.org/officeDocument/2006/relationships/image" Target="../media/m3d_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1 Titel"/>
          <p:cNvSpPr txBox="1"/>
          <p:nvPr/>
        </p:nvSpPr>
        <p:spPr>
          <a:xfrm>
            <a:off x="5120640" y="192024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Künstliche Intelligenz</a:t>
            </a:r>
            <a:endParaRPr lang="en-US" sz="5400" dirty="0"/>
          </a:p>
        </p:txBody>
      </p:sp>
      <p:sp>
        <p:nvSpPr>
          <p:cNvPr id="3" name="an2 Untertitel"/>
          <p:cNvSpPr txBox="1"/>
          <p:nvPr/>
        </p:nvSpPr>
        <p:spPr>
          <a:xfrm>
            <a:off x="5120640" y="35661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C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KI ist, wie sie funktioniert und wie wir sie sinnvoll nutzen</a:t>
            </a:r>
            <a:endParaRPr lang="en-US" sz="22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731520" y="1325880"/>
              <a:ext cx="2560320" cy="3017520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2560320" cy="3017520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98000" ay="426000" az="24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405479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731520" y="1325880"/>
                <a:ext cx="2560320" cy="301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3401568" y="1325880"/>
              <a:ext cx="1280160" cy="3017520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1280160" cy="3017520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24000" ay="-1242000" az="9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322821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3401568" y="1325880"/>
                <a:ext cx="1280160" cy="3017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1 Eyebrow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ÜBERSICHT</a:t>
            </a:r>
            <a:endParaRPr lang="en-US" sz="1300" dirty="0"/>
          </a:p>
        </p:txBody>
      </p:sp>
      <p:sp>
        <p:nvSpPr>
          <p:cNvPr id="3" name="an1 Titel"/>
          <p:cNvSpPr txBox="1"/>
          <p:nvPr/>
        </p:nvSpPr>
        <p:spPr>
          <a:xfrm>
            <a:off x="640080" y="777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Inhalt</a:t>
            </a:r>
            <a:endParaRPr lang="en-US" sz="4000" dirty="0"/>
          </a:p>
        </p:txBody>
      </p:sp>
      <p:sp>
        <p:nvSpPr>
          <p:cNvPr id="4" name="an2 Nr"/>
          <p:cNvSpPr txBox="1"/>
          <p:nvPr/>
        </p:nvSpPr>
        <p:spPr>
          <a:xfrm>
            <a:off x="640080" y="20116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5" name="an2 Text"/>
          <p:cNvSpPr txBox="1"/>
          <p:nvPr/>
        </p:nvSpPr>
        <p:spPr>
          <a:xfrm>
            <a:off x="1737360" y="21031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Fachbegriffe</a:t>
            </a:r>
            <a:endParaRPr lang="en-US" sz="2400" dirty="0"/>
          </a:p>
        </p:txBody>
      </p:sp>
      <p:sp>
        <p:nvSpPr>
          <p:cNvPr id="6" name="an3 Nr"/>
          <p:cNvSpPr txBox="1"/>
          <p:nvPr/>
        </p:nvSpPr>
        <p:spPr>
          <a:xfrm>
            <a:off x="640080" y="310896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7" name="an3 Text"/>
          <p:cNvSpPr txBox="1"/>
          <p:nvPr/>
        </p:nvSpPr>
        <p:spPr>
          <a:xfrm>
            <a:off x="1737360" y="32004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Kodex / Regeln</a:t>
            </a:r>
            <a:endParaRPr lang="en-US" sz="2400" dirty="0"/>
          </a:p>
        </p:txBody>
      </p:sp>
      <p:sp>
        <p:nvSpPr>
          <p:cNvPr id="8" name="an4 Nr"/>
          <p:cNvSpPr txBox="1"/>
          <p:nvPr/>
        </p:nvSpPr>
        <p:spPr>
          <a:xfrm>
            <a:off x="640080" y="420624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9" name="an4 Text"/>
          <p:cNvSpPr txBox="1"/>
          <p:nvPr/>
        </p:nvSpPr>
        <p:spPr>
          <a:xfrm>
            <a:off x="1737360" y="42976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Funktionsweise</a:t>
            </a:r>
            <a:endParaRPr lang="en-US" sz="2400" dirty="0"/>
          </a:p>
        </p:txBody>
      </p:sp>
      <p:sp>
        <p:nvSpPr>
          <p:cNvPr id="10" name="an5 Nr"/>
          <p:cNvSpPr txBox="1"/>
          <p:nvPr/>
        </p:nvSpPr>
        <p:spPr>
          <a:xfrm>
            <a:off x="640080" y="53035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000" dirty="0"/>
          </a:p>
        </p:txBody>
      </p:sp>
      <p:sp>
        <p:nvSpPr>
          <p:cNvPr id="11" name="an5 Text"/>
          <p:cNvSpPr txBox="1"/>
          <p:nvPr/>
        </p:nvSpPr>
        <p:spPr>
          <a:xfrm>
            <a:off x="1737360" y="53949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Writing</a:t>
            </a:r>
            <a:endParaRPr lang="en-US" sz="2400" dirty="0"/>
          </a:p>
        </p:txBody>
      </p:sp>
      <p:sp>
        <p:nvSpPr>
          <p:cNvPr id="12" name="an6 Nr"/>
          <p:cNvSpPr txBox="1"/>
          <p:nvPr/>
        </p:nvSpPr>
        <p:spPr>
          <a:xfrm>
            <a:off x="6309360" y="20116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4000" dirty="0"/>
          </a:p>
        </p:txBody>
      </p:sp>
      <p:sp>
        <p:nvSpPr>
          <p:cNvPr id="13" name="an6 Text"/>
          <p:cNvSpPr txBox="1"/>
          <p:nvPr/>
        </p:nvSpPr>
        <p:spPr>
          <a:xfrm>
            <a:off x="7406640" y="21031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Faktencheck</a:t>
            </a:r>
            <a:endParaRPr lang="en-US" sz="2400" dirty="0"/>
          </a:p>
        </p:txBody>
      </p:sp>
      <p:sp>
        <p:nvSpPr>
          <p:cNvPr id="14" name="an7 Nr"/>
          <p:cNvSpPr txBox="1"/>
          <p:nvPr/>
        </p:nvSpPr>
        <p:spPr>
          <a:xfrm>
            <a:off x="6309360" y="310896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4000" dirty="0"/>
          </a:p>
        </p:txBody>
      </p:sp>
      <p:sp>
        <p:nvSpPr>
          <p:cNvPr id="15" name="an7 Text"/>
          <p:cNvSpPr txBox="1"/>
          <p:nvPr/>
        </p:nvSpPr>
        <p:spPr>
          <a:xfrm>
            <a:off x="7406640" y="32004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Urheberrecht und Datenschutz</a:t>
            </a:r>
            <a:endParaRPr lang="en-US" sz="2400" dirty="0"/>
          </a:p>
        </p:txBody>
      </p:sp>
      <p:sp>
        <p:nvSpPr>
          <p:cNvPr id="16" name="an8 Nr"/>
          <p:cNvSpPr txBox="1"/>
          <p:nvPr/>
        </p:nvSpPr>
        <p:spPr>
          <a:xfrm>
            <a:off x="6309360" y="420624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4000" dirty="0"/>
          </a:p>
        </p:txBody>
      </p:sp>
      <p:sp>
        <p:nvSpPr>
          <p:cNvPr id="17" name="an8 Text"/>
          <p:cNvSpPr txBox="1"/>
          <p:nvPr/>
        </p:nvSpPr>
        <p:spPr>
          <a:xfrm>
            <a:off x="7406640" y="42976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im Alltag</a:t>
            </a:r>
            <a:endParaRPr lang="en-US" sz="2400" dirty="0"/>
          </a:p>
        </p:txBody>
      </p:sp>
      <p:sp>
        <p:nvSpPr>
          <p:cNvPr id="18" name="an9 Nr"/>
          <p:cNvSpPr txBox="1"/>
          <p:nvPr/>
        </p:nvSpPr>
        <p:spPr>
          <a:xfrm>
            <a:off x="6309360" y="53035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4000" dirty="0"/>
          </a:p>
        </p:txBody>
      </p:sp>
      <p:sp>
        <p:nvSpPr>
          <p:cNvPr id="19" name="an9 Text"/>
          <p:cNvSpPr txBox="1"/>
          <p:nvPr/>
        </p:nvSpPr>
        <p:spPr>
          <a:xfrm>
            <a:off x="7406640" y="53949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Lernen mit KI</a:t>
            </a:r>
            <a:endParaRPr lang="en-US" sz="24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10771632" y="384048"/>
              <a:ext cx="640080" cy="749808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640080" cy="749808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60000" ay="2880000" az="-36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10075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771632" y="384048"/>
                <a:ext cx="64008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11448288" y="384048"/>
              <a:ext cx="320040" cy="749808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320040" cy="749808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840000" ay="-2760000" az="30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8021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11448288" y="384048"/>
                <a:ext cx="32004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net" descr="3D-Modell net"/>
              <p:cNvGraphicFramePr>
                <a:graphicFrameLocks noChangeAspect="1"/>
              </p:cNvGraphicFramePr>
              <p:nvPr/>
            </p:nvGraphicFramePr>
            <p:xfrm>
              <a:off x="12893040" y="1533152"/>
              <a:ext cx="4921877" cy="4921877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4921877" cy="4921877"/>
                    </a:xfrm>
                    <a:prstGeom prst="rect">
                      <a:avLst/>
                    </a:prstGeom>
                  </am3d:spPr>
                  <am3d:camera>
                    <am3d:pos x="0" y="0" z="8142172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6511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00000" ay="-150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47548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net" descr="3D-Modell net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2893040" y="1533152"/>
                <a:ext cx="4921877" cy="4921877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8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8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1 Eyebrow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BEGRIFFSERKLÄRUNG</a:t>
            </a:r>
            <a:endParaRPr lang="en-US" sz="1300" dirty="0"/>
          </a:p>
        </p:txBody>
      </p:sp>
      <p:sp>
        <p:nvSpPr>
          <p:cNvPr id="3" name="an1 Titel"/>
          <p:cNvSpPr txBox="1"/>
          <p:nvPr/>
        </p:nvSpPr>
        <p:spPr>
          <a:xfrm>
            <a:off x="640080" y="777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Fachbegriffe</a:t>
            </a:r>
            <a:endParaRPr lang="en-US" sz="4000" dirty="0"/>
          </a:p>
        </p:txBody>
      </p:sp>
      <p:sp>
        <p:nvSpPr>
          <p:cNvPr id="4" name="an2 Begriff"/>
          <p:cNvSpPr txBox="1"/>
          <p:nvPr/>
        </p:nvSpPr>
        <p:spPr>
          <a:xfrm>
            <a:off x="640080" y="1874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Data</a:t>
            </a:r>
            <a:endParaRPr lang="en-US" sz="2400" dirty="0"/>
          </a:p>
        </p:txBody>
      </p:sp>
      <p:sp>
        <p:nvSpPr>
          <p:cNvPr id="5" name="an2 Erklärung"/>
          <p:cNvSpPr txBox="1"/>
          <p:nvPr/>
        </p:nvSpPr>
        <p:spPr>
          <a:xfrm>
            <a:off x="3383280" y="18745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Riesige Datenmengen – viel zu groß, um sie von Hand auszuwerten.</a:t>
            </a:r>
            <a:endParaRPr lang="en-US" sz="1800" dirty="0"/>
          </a:p>
        </p:txBody>
      </p:sp>
      <p:sp>
        <p:nvSpPr>
          <p:cNvPr id="6" name="an3 Begriff"/>
          <p:cNvSpPr txBox="1"/>
          <p:nvPr/>
        </p:nvSpPr>
        <p:spPr>
          <a:xfrm>
            <a:off x="640080" y="3017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Daten</a:t>
            </a:r>
            <a:endParaRPr lang="en-US" sz="2400" dirty="0"/>
          </a:p>
        </p:txBody>
      </p:sp>
      <p:sp>
        <p:nvSpPr>
          <p:cNvPr id="7" name="an3 Erklärung"/>
          <p:cNvSpPr txBox="1"/>
          <p:nvPr/>
        </p:nvSpPr>
        <p:spPr>
          <a:xfrm>
            <a:off x="3383280" y="30175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Texte, Bilder, Zahlen – das „Futter“, aus dem eine KI lernt.</a:t>
            </a:r>
            <a:endParaRPr lang="en-US" sz="1800" dirty="0"/>
          </a:p>
        </p:txBody>
      </p:sp>
      <p:sp>
        <p:nvSpPr>
          <p:cNvPr id="8" name="an4 Begriff"/>
          <p:cNvSpPr txBox="1"/>
          <p:nvPr/>
        </p:nvSpPr>
        <p:spPr>
          <a:xfrm>
            <a:off x="640080" y="4160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</a:t>
            </a:r>
            <a:endParaRPr lang="en-US" sz="2400" dirty="0"/>
          </a:p>
        </p:txBody>
      </p:sp>
      <p:sp>
        <p:nvSpPr>
          <p:cNvPr id="9" name="an4 Erklärung"/>
          <p:cNvSpPr txBox="1"/>
          <p:nvPr/>
        </p:nvSpPr>
        <p:spPr>
          <a:xfrm>
            <a:off x="3383280" y="41605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KI lernt mit künstlichen neuronalen Netzen, ähnlich wie ein Gehirn.</a:t>
            </a:r>
            <a:endParaRPr lang="en-US" sz="1800" dirty="0"/>
          </a:p>
        </p:txBody>
      </p:sp>
      <p:sp>
        <p:nvSpPr>
          <p:cNvPr id="10" name="an5 Begriff"/>
          <p:cNvSpPr txBox="1"/>
          <p:nvPr/>
        </p:nvSpPr>
        <p:spPr>
          <a:xfrm>
            <a:off x="640080" y="5303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</a:t>
            </a:r>
            <a:endParaRPr lang="en-US" sz="2400" dirty="0"/>
          </a:p>
        </p:txBody>
      </p:sp>
      <p:sp>
        <p:nvSpPr>
          <p:cNvPr id="11" name="an5 Erklärung"/>
          <p:cNvSpPr txBox="1"/>
          <p:nvPr/>
        </p:nvSpPr>
        <p:spPr>
          <a:xfrm>
            <a:off x="3383280" y="53035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Programm, mit dem man schreiben kann – z. B. ChatGPT oder Gemini.</a:t>
            </a:r>
            <a:endParaRPr lang="en-US" sz="1800" dirty="0"/>
          </a:p>
        </p:txBody>
      </p:sp>
      <p:sp>
        <p:nvSpPr>
          <p:cNvPr id="12" name="!!panel"/>
          <p:cNvSpPr/>
          <p:nvPr/>
        </p:nvSpPr>
        <p:spPr>
          <a:xfrm>
            <a:off x="8412480" y="1737360"/>
            <a:ext cx="3154680" cy="4480560"/>
          </a:xfrm>
          <a:prstGeom prst="roundRect">
            <a:avLst>
              <a:gd name="adj" fmla="val 3478"/>
            </a:avLst>
          </a:prstGeom>
          <a:solidFill>
            <a:srgbClr val="0A0F2B"/>
          </a:solidFill>
          <a:ln w="12700">
            <a:solidFill>
              <a:srgbClr val="0A0F2B"/>
            </a:solidFill>
            <a:prstDash val="solid"/>
          </a:ln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10771632" y="384048"/>
              <a:ext cx="640080" cy="749808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640080" cy="749808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60000" ay="2880000" az="-36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10075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771632" y="384048"/>
                <a:ext cx="64008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11448288" y="384048"/>
              <a:ext cx="320040" cy="749808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320040" cy="749808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840000" ay="-2760000" az="30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8021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11448288" y="384048"/>
                <a:ext cx="32004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net" descr="3D-Modell net"/>
              <p:cNvGraphicFramePr>
                <a:graphicFrameLocks noChangeAspect="1"/>
              </p:cNvGraphicFramePr>
              <p:nvPr/>
            </p:nvGraphicFramePr>
            <p:xfrm>
              <a:off x="7532171" y="1533152"/>
              <a:ext cx="4921877" cy="4921877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4921877" cy="4921877"/>
                    </a:xfrm>
                    <a:prstGeom prst="rect">
                      <a:avLst/>
                    </a:prstGeom>
                  </am3d:spPr>
                  <am3d:camera>
                    <am3d:pos x="0" y="0" z="8142172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6511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00000" ay="-150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47548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net" descr="3D-Modell net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532171" y="1533152"/>
                <a:ext cx="4921877" cy="49218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4" name="!!m_shield" descr="3D-Modell shield"/>
              <p:cNvGraphicFramePr>
                <a:graphicFrameLocks noChangeAspect="1"/>
              </p:cNvGraphicFramePr>
              <p:nvPr/>
            </p:nvGraphicFramePr>
            <p:xfrm>
              <a:off x="12893040" y="2162120"/>
              <a:ext cx="3831374" cy="3831374"/>
            </p:xfrm>
            <a:graphic>
              <a:graphicData uri="http://schemas.microsoft.com/office/drawing/2017/model3d">
                <am3d:model3d r:embed="rId106">
                  <am3d:spPr>
                    <a:xfrm>
                      <a:off x="0" y="0"/>
                      <a:ext cx="3831374" cy="3831374"/>
                    </a:xfrm>
                    <a:prstGeom prst="rect">
                      <a:avLst/>
                    </a:prstGeom>
                  </am3d:spPr>
                  <am3d:camera>
                    <am3d:pos x="0" y="0" z="6066336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65116" d="1000000"/>
                    <am3d:preTrans dx="0" dy="125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1320000"/>
                    <am3d:postTrans dx="0" dy="0" dz="0"/>
                  </am3d:trans>
                  <am3d:raster rName="Office3DRenderer" rVer="16.0.8326">
                    <am3d:blip r:embed="rId107"/>
                  </am3d:raster>
                  <am3d:objViewport viewportSz="38862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4" name="!!m_shield" descr="3D-Modell shield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2893040" y="2162120"/>
                <a:ext cx="3831374" cy="3831374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1 Eyebrow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KODEX</a:t>
            </a:r>
            <a:endParaRPr lang="en-US" sz="1300" dirty="0"/>
          </a:p>
        </p:txBody>
      </p:sp>
      <p:sp>
        <p:nvSpPr>
          <p:cNvPr id="3" name="an1 Titel"/>
          <p:cNvSpPr txBox="1"/>
          <p:nvPr/>
        </p:nvSpPr>
        <p:spPr>
          <a:xfrm>
            <a:off x="640080" y="777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Regeln für KI</a:t>
            </a:r>
            <a:endParaRPr lang="en-US" sz="4000" dirty="0"/>
          </a:p>
        </p:txBody>
      </p:sp>
      <p:sp>
        <p:nvSpPr>
          <p:cNvPr id="4" name="an2 Nr"/>
          <p:cNvSpPr txBox="1"/>
          <p:nvPr/>
        </p:nvSpPr>
        <p:spPr>
          <a:xfrm>
            <a:off x="640080" y="17830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an2 Regel"/>
          <p:cNvSpPr txBox="1"/>
          <p:nvPr/>
        </p:nvSpPr>
        <p:spPr>
          <a:xfrm>
            <a:off x="1280160" y="180136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Transparenz</a:t>
            </a:r>
            <a:endParaRPr lang="en-US" sz="2200" dirty="0"/>
          </a:p>
        </p:txBody>
      </p:sp>
      <p:sp>
        <p:nvSpPr>
          <p:cNvPr id="6" name="an2 Text"/>
          <p:cNvSpPr txBox="1"/>
          <p:nvPr/>
        </p:nvSpPr>
        <p:spPr>
          <a:xfrm>
            <a:off x="1280160" y="216712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sage offen, wo und wofür ich KI benutzt habe.</a:t>
            </a:r>
            <a:endParaRPr lang="en-US" sz="1700" dirty="0"/>
          </a:p>
        </p:txBody>
      </p:sp>
      <p:sp>
        <p:nvSpPr>
          <p:cNvPr id="7" name="an3 Nr"/>
          <p:cNvSpPr txBox="1"/>
          <p:nvPr/>
        </p:nvSpPr>
        <p:spPr>
          <a:xfrm>
            <a:off x="640080" y="2679192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8" name="an3 Regel"/>
          <p:cNvSpPr txBox="1"/>
          <p:nvPr/>
        </p:nvSpPr>
        <p:spPr>
          <a:xfrm>
            <a:off x="1280160" y="26974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Datenschutz</a:t>
            </a:r>
            <a:endParaRPr lang="en-US" sz="2200" dirty="0"/>
          </a:p>
        </p:txBody>
      </p:sp>
      <p:sp>
        <p:nvSpPr>
          <p:cNvPr id="9" name="an3 Text"/>
          <p:cNvSpPr txBox="1"/>
          <p:nvPr/>
        </p:nvSpPr>
        <p:spPr>
          <a:xfrm>
            <a:off x="1280160" y="30632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persönlichen Daten in die KI eingeben.</a:t>
            </a:r>
            <a:endParaRPr lang="en-US" sz="1700" dirty="0"/>
          </a:p>
        </p:txBody>
      </p:sp>
      <p:sp>
        <p:nvSpPr>
          <p:cNvPr id="10" name="an4 Nr"/>
          <p:cNvSpPr txBox="1"/>
          <p:nvPr/>
        </p:nvSpPr>
        <p:spPr>
          <a:xfrm>
            <a:off x="640080" y="3575304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1" name="an4 Regel"/>
          <p:cNvSpPr txBox="1"/>
          <p:nvPr/>
        </p:nvSpPr>
        <p:spPr>
          <a:xfrm>
            <a:off x="1280160" y="359359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Eigenverantwortung</a:t>
            </a:r>
            <a:endParaRPr lang="en-US" sz="2200" dirty="0"/>
          </a:p>
        </p:txBody>
      </p:sp>
      <p:sp>
        <p:nvSpPr>
          <p:cNvPr id="12" name="an4 Text"/>
          <p:cNvSpPr txBox="1"/>
          <p:nvPr/>
        </p:nvSpPr>
        <p:spPr>
          <a:xfrm>
            <a:off x="1280160" y="395935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bin selbst für mein Ergebnis verantwortlich.</a:t>
            </a:r>
            <a:endParaRPr lang="en-US" sz="1700" dirty="0"/>
          </a:p>
        </p:txBody>
      </p:sp>
      <p:sp>
        <p:nvSpPr>
          <p:cNvPr id="13" name="an5 Nr"/>
          <p:cNvSpPr txBox="1"/>
          <p:nvPr/>
        </p:nvSpPr>
        <p:spPr>
          <a:xfrm>
            <a:off x="640080" y="4471416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14" name="an5 Regel"/>
          <p:cNvSpPr txBox="1"/>
          <p:nvPr/>
        </p:nvSpPr>
        <p:spPr>
          <a:xfrm>
            <a:off x="1280160" y="4489704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Qualitätscheck</a:t>
            </a:r>
            <a:endParaRPr lang="en-US" sz="2200" dirty="0"/>
          </a:p>
        </p:txBody>
      </p:sp>
      <p:sp>
        <p:nvSpPr>
          <p:cNvPr id="15" name="an5 Text"/>
          <p:cNvSpPr txBox="1"/>
          <p:nvPr/>
        </p:nvSpPr>
        <p:spPr>
          <a:xfrm>
            <a:off x="1280160" y="4855464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KI-Antworten immer überprüfen, bevor ich sie nutze.</a:t>
            </a:r>
            <a:endParaRPr lang="en-US" sz="1700" dirty="0"/>
          </a:p>
        </p:txBody>
      </p:sp>
      <p:sp>
        <p:nvSpPr>
          <p:cNvPr id="16" name="an6 Nr"/>
          <p:cNvSpPr txBox="1"/>
          <p:nvPr/>
        </p:nvSpPr>
        <p:spPr>
          <a:xfrm>
            <a:off x="640080" y="5367528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17" name="an6 Regel"/>
          <p:cNvSpPr txBox="1"/>
          <p:nvPr/>
        </p:nvSpPr>
        <p:spPr>
          <a:xfrm>
            <a:off x="1280160" y="538581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und Regeln</a:t>
            </a:r>
            <a:endParaRPr lang="en-US" sz="2200" dirty="0"/>
          </a:p>
        </p:txBody>
      </p:sp>
      <p:sp>
        <p:nvSpPr>
          <p:cNvPr id="18" name="an6 Text"/>
          <p:cNvSpPr txBox="1"/>
          <p:nvPr/>
        </p:nvSpPr>
        <p:spPr>
          <a:xfrm>
            <a:off x="1280160" y="575157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Schulregeln einhalten – KI nicht zum Schummeln nutzen.</a:t>
            </a:r>
            <a:endParaRPr lang="en-US" sz="1700" dirty="0"/>
          </a:p>
        </p:txBody>
      </p:sp>
      <p:sp>
        <p:nvSpPr>
          <p:cNvPr id="19" name="!!panel"/>
          <p:cNvSpPr/>
          <p:nvPr/>
        </p:nvSpPr>
        <p:spPr>
          <a:xfrm>
            <a:off x="8138160" y="1737360"/>
            <a:ext cx="3429000" cy="4480560"/>
          </a:xfrm>
          <a:prstGeom prst="roundRect">
            <a:avLst>
              <a:gd name="adj" fmla="val 3200"/>
            </a:avLst>
          </a:prstGeom>
          <a:solidFill>
            <a:srgbClr val="161E45"/>
          </a:solidFill>
          <a:ln w="12700">
            <a:solidFill>
              <a:srgbClr val="161E45"/>
            </a:solidFill>
            <a:prstDash val="solid"/>
          </a:ln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10771632" y="384048"/>
              <a:ext cx="640080" cy="749808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640080" cy="749808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60000" ay="2880000" az="-36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10075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771632" y="384048"/>
                <a:ext cx="64008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11448288" y="384048"/>
              <a:ext cx="320040" cy="749808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320040" cy="749808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840000" ay="-2760000" az="30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8021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11448288" y="384048"/>
                <a:ext cx="32004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shield" descr="3D-Modell shield"/>
              <p:cNvGraphicFramePr>
                <a:graphicFrameLocks noChangeAspect="1"/>
              </p:cNvGraphicFramePr>
              <p:nvPr/>
            </p:nvGraphicFramePr>
            <p:xfrm>
              <a:off x="7955754" y="2162120"/>
              <a:ext cx="3831374" cy="3831374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3831374" cy="3831374"/>
                    </a:xfrm>
                    <a:prstGeom prst="rect">
                      <a:avLst/>
                    </a:prstGeom>
                  </am3d:spPr>
                  <am3d:camera>
                    <am3d:pos x="0" y="0" z="6066336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65116" d="1000000"/>
                    <am3d:preTrans dx="0" dy="125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132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38862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shield" descr="3D-Modell shield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955754" y="2162120"/>
                <a:ext cx="3831374" cy="38313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4" name="!!m_stop" descr="3D-Modell stop"/>
              <p:cNvGraphicFramePr>
                <a:graphicFrameLocks noChangeAspect="1"/>
              </p:cNvGraphicFramePr>
              <p:nvPr/>
            </p:nvGraphicFramePr>
            <p:xfrm>
              <a:off x="12893040" y="863504"/>
              <a:ext cx="4399472" cy="4399472"/>
            </p:xfrm>
            <a:graphic>
              <a:graphicData uri="http://schemas.microsoft.com/office/drawing/2017/model3d">
                <am3d:model3d r:embed="rId106">
                  <am3d:spPr>
                    <a:xfrm>
                      <a:off x="0" y="0"/>
                      <a:ext cx="4399472" cy="4399472"/>
                    </a:xfrm>
                    <a:prstGeom prst="rect">
                      <a:avLst/>
                    </a:prstGeom>
                  </am3d:spPr>
                  <am3d:camera>
                    <am3d:pos x="0" y="0" z="6665994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4119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-1680000"/>
                    <am3d:postTrans dx="0" dy="0" dz="0"/>
                  </am3d:trans>
                  <am3d:raster rName="Office3DRenderer" rVer="16.0.8326">
                    <am3d:blip r:embed="rId107"/>
                  </am3d:raster>
                  <am3d:objViewport viewportSz="21945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4" name="!!m_stop" descr="3D-Modell stop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2893040" y="863504"/>
                <a:ext cx="4399472" cy="43994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5" name="!!m_car" descr="3D-Modell car"/>
              <p:cNvGraphicFramePr>
                <a:graphicFrameLocks noChangeAspect="1"/>
              </p:cNvGraphicFramePr>
              <p:nvPr/>
            </p:nvGraphicFramePr>
            <p:xfrm>
              <a:off x="12893040" y="4538835"/>
              <a:ext cx="1989886" cy="1989886"/>
            </p:xfrm>
            <a:graphic>
              <a:graphicData uri="http://schemas.microsoft.com/office/drawing/2017/model3d">
                <am3d:model3d r:embed="rId108">
                  <am3d:spPr>
                    <a:xfrm>
                      <a:off x="0" y="0"/>
                      <a:ext cx="1989886" cy="1989886"/>
                    </a:xfrm>
                    <a:prstGeom prst="rect">
                      <a:avLst/>
                    </a:prstGeom>
                  </am3d:spPr>
                  <am3d:camera>
                    <am3d:pos x="0" y="0" z="5050541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7194" d="1000000"/>
                    <am3d:preTrans dx="43035" dy="104969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-1440000"/>
                    <am3d:postTrans dx="0" dy="0" dz="0"/>
                  </am3d:trans>
                  <am3d:raster rName="Office3DRenderer" rVer="16.0.8326">
                    <am3d:blip r:embed="rId109"/>
                  </am3d:raster>
                  <am3d:objViewport viewportSz="31089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5" name="!!m_car" descr="3D-Modell car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2893040" y="4538835"/>
                <a:ext cx="1989886" cy="19898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6" name="!!m_net" descr="3D-Modell net"/>
              <p:cNvGraphicFramePr>
                <a:graphicFrameLocks noChangeAspect="1"/>
              </p:cNvGraphicFramePr>
              <p:nvPr/>
            </p:nvGraphicFramePr>
            <p:xfrm>
              <a:off x="-5287637" y="1533152"/>
              <a:ext cx="4921877" cy="4921877"/>
            </p:xfrm>
            <a:graphic>
              <a:graphicData uri="http://schemas.microsoft.com/office/drawing/2017/model3d">
                <am3d:model3d r:embed="rId110">
                  <am3d:spPr>
                    <a:xfrm>
                      <a:off x="0" y="0"/>
                      <a:ext cx="4921877" cy="4921877"/>
                    </a:xfrm>
                    <a:prstGeom prst="rect">
                      <a:avLst/>
                    </a:prstGeom>
                  </am3d:spPr>
                  <am3d:camera>
                    <am3d:pos x="0" y="0" z="8142172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6511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00000" ay="-1500000"/>
                    <am3d:postTrans dx="0" dy="0" dz="0"/>
                  </am3d:trans>
                  <am3d:raster rName="Office3DRenderer" rVer="16.0.8326">
                    <am3d:blip r:embed="rId111"/>
                  </am3d:raster>
                  <am3d:objViewport viewportSz="47548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6" name="!!m_net" descr="3D-Modell net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-5287637" y="1533152"/>
                <a:ext cx="4921877" cy="4921877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8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8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1 Eyebrow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SO LERNT EINE KI</a:t>
            </a:r>
            <a:endParaRPr lang="en-US" sz="1300" dirty="0"/>
          </a:p>
        </p:txBody>
      </p:sp>
      <p:sp>
        <p:nvSpPr>
          <p:cNvPr id="3" name="an1 Titel"/>
          <p:cNvSpPr txBox="1"/>
          <p:nvPr/>
        </p:nvSpPr>
        <p:spPr>
          <a:xfrm>
            <a:off x="640080" y="777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Funktionsweise</a:t>
            </a:r>
            <a:endParaRPr lang="en-US" sz="4000" dirty="0"/>
          </a:p>
        </p:txBody>
      </p:sp>
      <p:sp>
        <p:nvSpPr>
          <p:cNvPr id="4" name="an2 Frage"/>
          <p:cNvSpPr txBox="1"/>
          <p:nvPr/>
        </p:nvSpPr>
        <p:spPr>
          <a:xfrm>
            <a:off x="640080" y="19202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lernt eine KI?</a:t>
            </a:r>
            <a:endParaRPr lang="en-US" sz="3600" dirty="0"/>
          </a:p>
        </p:txBody>
      </p:sp>
      <p:sp>
        <p:nvSpPr>
          <p:cNvPr id="5" name="an3 Text"/>
          <p:cNvSpPr txBox="1"/>
          <p:nvPr/>
        </p:nvSpPr>
        <p:spPr>
          <a:xfrm>
            <a:off x="640080" y="292608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 Ein selbstfahrendes Auto soll lernen, Stoppschilder zu erkennen. Das passiert in 4 Schritten.</a:t>
            </a:r>
            <a:endParaRPr lang="en-US" sz="2400" dirty="0"/>
          </a:p>
        </p:txBody>
      </p:sp>
      <p:sp>
        <p:nvSpPr>
          <p:cNvPr id="6" name="!!line"/>
          <p:cNvSpPr/>
          <p:nvPr/>
        </p:nvSpPr>
        <p:spPr>
          <a:xfrm>
            <a:off x="640080" y="5879592"/>
            <a:ext cx="10881360" cy="36576"/>
          </a:xfrm>
          <a:prstGeom prst="rect">
            <a:avLst/>
          </a:prstGeom>
          <a:solidFill>
            <a:srgbClr val="2A3366"/>
          </a:solidFill>
          <a:ln w="12700">
            <a:solidFill>
              <a:srgbClr val="2A3366"/>
            </a:solidFill>
            <a:prstDash val="solid"/>
          </a:ln>
        </p:spPr>
      </p:sp>
      <p:sp>
        <p:nvSpPr>
          <p:cNvPr id="7" name="!!progress"/>
          <p:cNvSpPr/>
          <p:nvPr/>
        </p:nvSpPr>
        <p:spPr>
          <a:xfrm>
            <a:off x="640080" y="5870448"/>
            <a:ext cx="4572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!!node1"/>
          <p:cNvSpPr/>
          <p:nvPr/>
        </p:nvSpPr>
        <p:spPr>
          <a:xfrm>
            <a:off x="1874520" y="5760720"/>
            <a:ext cx="274320" cy="274320"/>
          </a:xfrm>
          <a:prstGeom prst="ellipse">
            <a:avLst/>
          </a:prstGeom>
          <a:solidFill>
            <a:srgbClr val="0A0F2B"/>
          </a:solidFill>
          <a:ln w="25400">
            <a:solidFill>
              <a:srgbClr val="2A3366"/>
            </a:solidFill>
            <a:prstDash val="solid"/>
          </a:ln>
        </p:spPr>
      </p:sp>
      <p:sp>
        <p:nvSpPr>
          <p:cNvPr id="9" name="!!lab1"/>
          <p:cNvSpPr txBox="1"/>
          <p:nvPr/>
        </p:nvSpPr>
        <p:spPr>
          <a:xfrm>
            <a:off x="8229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</a:t>
            </a:r>
            <a:endParaRPr lang="en-US" sz="1500" dirty="0"/>
          </a:p>
        </p:txBody>
      </p:sp>
      <p:sp>
        <p:nvSpPr>
          <p:cNvPr id="10" name="!!node2"/>
          <p:cNvSpPr/>
          <p:nvPr/>
        </p:nvSpPr>
        <p:spPr>
          <a:xfrm>
            <a:off x="4617720" y="5760720"/>
            <a:ext cx="274320" cy="274320"/>
          </a:xfrm>
          <a:prstGeom prst="ellipse">
            <a:avLst/>
          </a:prstGeom>
          <a:solidFill>
            <a:srgbClr val="0A0F2B"/>
          </a:solidFill>
          <a:ln w="25400">
            <a:solidFill>
              <a:srgbClr val="2A3366"/>
            </a:solidFill>
            <a:prstDash val="solid"/>
          </a:ln>
        </p:spPr>
      </p:sp>
      <p:sp>
        <p:nvSpPr>
          <p:cNvPr id="11" name="!!lab2"/>
          <p:cNvSpPr txBox="1"/>
          <p:nvPr/>
        </p:nvSpPr>
        <p:spPr>
          <a:xfrm>
            <a:off x="35661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500" dirty="0"/>
          </a:p>
        </p:txBody>
      </p:sp>
      <p:sp>
        <p:nvSpPr>
          <p:cNvPr id="12" name="!!node3"/>
          <p:cNvSpPr/>
          <p:nvPr/>
        </p:nvSpPr>
        <p:spPr>
          <a:xfrm>
            <a:off x="7360920" y="5760720"/>
            <a:ext cx="274320" cy="274320"/>
          </a:xfrm>
          <a:prstGeom prst="ellipse">
            <a:avLst/>
          </a:prstGeom>
          <a:solidFill>
            <a:srgbClr val="0A0F2B"/>
          </a:solidFill>
          <a:ln w="25400">
            <a:solidFill>
              <a:srgbClr val="2A3366"/>
            </a:solidFill>
            <a:prstDash val="solid"/>
          </a:ln>
        </p:spPr>
      </p:sp>
      <p:sp>
        <p:nvSpPr>
          <p:cNvPr id="13" name="!!lab3"/>
          <p:cNvSpPr txBox="1"/>
          <p:nvPr/>
        </p:nvSpPr>
        <p:spPr>
          <a:xfrm>
            <a:off x="63093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500" dirty="0"/>
          </a:p>
        </p:txBody>
      </p:sp>
      <p:sp>
        <p:nvSpPr>
          <p:cNvPr id="14" name="!!node4"/>
          <p:cNvSpPr/>
          <p:nvPr/>
        </p:nvSpPr>
        <p:spPr>
          <a:xfrm>
            <a:off x="10104120" y="5760720"/>
            <a:ext cx="274320" cy="274320"/>
          </a:xfrm>
          <a:prstGeom prst="ellipse">
            <a:avLst/>
          </a:prstGeom>
          <a:solidFill>
            <a:srgbClr val="0A0F2B"/>
          </a:solidFill>
          <a:ln w="25400">
            <a:solidFill>
              <a:srgbClr val="2A3366"/>
            </a:solidFill>
            <a:prstDash val="solid"/>
          </a:ln>
        </p:spPr>
      </p:sp>
      <p:sp>
        <p:nvSpPr>
          <p:cNvPr id="15" name="!!lab4"/>
          <p:cNvSpPr txBox="1"/>
          <p:nvPr/>
        </p:nvSpPr>
        <p:spPr>
          <a:xfrm>
            <a:off x="90525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Vorhersage</a:t>
            </a:r>
            <a:endParaRPr lang="en-US" sz="15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10771632" y="384048"/>
              <a:ext cx="640080" cy="749808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640080" cy="749808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60000" ay="2880000" az="-36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10075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771632" y="384048"/>
                <a:ext cx="64008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11448288" y="384048"/>
              <a:ext cx="320040" cy="749808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320040" cy="749808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840000" ay="-2760000" az="30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8021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11448288" y="384048"/>
                <a:ext cx="32004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stop" descr="3D-Modell stop"/>
              <p:cNvGraphicFramePr>
                <a:graphicFrameLocks noChangeAspect="1"/>
              </p:cNvGraphicFramePr>
              <p:nvPr/>
            </p:nvGraphicFramePr>
            <p:xfrm>
              <a:off x="7035704" y="863504"/>
              <a:ext cx="4399472" cy="4399472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4399472" cy="4399472"/>
                    </a:xfrm>
                    <a:prstGeom prst="rect">
                      <a:avLst/>
                    </a:prstGeom>
                  </am3d:spPr>
                  <am3d:camera>
                    <am3d:pos x="0" y="0" z="6665994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4119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-168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21945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stop" descr="3D-Modell stop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035704" y="863504"/>
                <a:ext cx="4399472" cy="43994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4" name="!!m_car" descr="3D-Modell car"/>
              <p:cNvGraphicFramePr>
                <a:graphicFrameLocks noChangeAspect="1"/>
              </p:cNvGraphicFramePr>
              <p:nvPr/>
            </p:nvGraphicFramePr>
            <p:xfrm>
              <a:off x="374999" y="4538835"/>
              <a:ext cx="1989886" cy="1989886"/>
            </p:xfrm>
            <a:graphic>
              <a:graphicData uri="http://schemas.microsoft.com/office/drawing/2017/model3d">
                <am3d:model3d r:embed="rId106">
                  <am3d:spPr>
                    <a:xfrm>
                      <a:off x="0" y="0"/>
                      <a:ext cx="1989886" cy="1989886"/>
                    </a:xfrm>
                    <a:prstGeom prst="rect">
                      <a:avLst/>
                    </a:prstGeom>
                  </am3d:spPr>
                  <am3d:camera>
                    <am3d:pos x="0" y="0" z="5050541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7194" d="1000000"/>
                    <am3d:preTrans dx="43035" dy="104969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-1440000"/>
                    <am3d:postTrans dx="0" dy="0" dz="0"/>
                  </am3d:trans>
                  <am3d:raster rName="Office3DRenderer" rVer="16.0.8326">
                    <am3d:blip r:embed="rId107"/>
                  </am3d:raster>
                  <am3d:objViewport viewportSz="31089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4" name="!!m_car" descr="3D-Modell car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374999" y="4538835"/>
                <a:ext cx="1989886" cy="19898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5" name="!!m_database" descr="3D-Modell database"/>
              <p:cNvGraphicFramePr>
                <a:graphicFrameLocks noChangeAspect="1"/>
              </p:cNvGraphicFramePr>
              <p:nvPr/>
            </p:nvGraphicFramePr>
            <p:xfrm>
              <a:off x="12893040" y="1017872"/>
              <a:ext cx="4090737" cy="4090737"/>
            </p:xfrm>
            <a:graphic>
              <a:graphicData uri="http://schemas.microsoft.com/office/drawing/2017/model3d">
                <am3d:model3d r:embed="rId108">
                  <am3d:spPr>
                    <a:xfrm>
                      <a:off x="0" y="0"/>
                      <a:ext cx="4090737" cy="4090737"/>
                    </a:xfrm>
                    <a:prstGeom prst="rect">
                      <a:avLst/>
                    </a:prstGeom>
                  </am3d:spPr>
                  <am3d:camera>
                    <am3d:pos x="0" y="0" z="8129344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83092" d="1000000"/>
                    <am3d:preTrans dx="0" dy="86956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320000" ay="-1800000"/>
                    <am3d:postTrans dx="0" dy="0" dz="0"/>
                  </am3d:trans>
                  <am3d:raster rName="Office3DRenderer" rVer="16.0.8326">
                    <am3d:blip r:embed="rId109"/>
                  </am3d:raster>
                  <am3d:objViewport viewportSz="26974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5" name="!!m_database" descr="3D-Modell database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2893040" y="1017872"/>
                <a:ext cx="4090737" cy="40907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6" name="!!m_shield" descr="3D-Modell shield"/>
              <p:cNvGraphicFramePr>
                <a:graphicFrameLocks noChangeAspect="1"/>
              </p:cNvGraphicFramePr>
              <p:nvPr/>
            </p:nvGraphicFramePr>
            <p:xfrm>
              <a:off x="-4197134" y="2162120"/>
              <a:ext cx="3831374" cy="3831374"/>
            </p:xfrm>
            <a:graphic>
              <a:graphicData uri="http://schemas.microsoft.com/office/drawing/2017/model3d">
                <am3d:model3d r:embed="rId110">
                  <am3d:spPr>
                    <a:xfrm>
                      <a:off x="0" y="0"/>
                      <a:ext cx="3831374" cy="3831374"/>
                    </a:xfrm>
                    <a:prstGeom prst="rect">
                      <a:avLst/>
                    </a:prstGeom>
                  </am3d:spPr>
                  <am3d:camera>
                    <am3d:pos x="0" y="0" z="6066336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65116" d="1000000"/>
                    <am3d:preTrans dx="0" dy="125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1320000"/>
                    <am3d:postTrans dx="0" dy="0" dz="0"/>
                  </am3d:trans>
                  <am3d:raster rName="Office3DRenderer" rVer="16.0.8326">
                    <am3d:blip r:embed="rId111"/>
                  </am3d:raster>
                  <am3d:objViewport viewportSz="38862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6" name="!!m_shield" descr="3D-Modell shield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-4197134" y="2162120"/>
                <a:ext cx="3831374" cy="3831374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1 Eyebrow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SO LERNT EINE KI</a:t>
            </a:r>
            <a:endParaRPr lang="en-US" sz="1300" dirty="0"/>
          </a:p>
        </p:txBody>
      </p:sp>
      <p:sp>
        <p:nvSpPr>
          <p:cNvPr id="3" name="an1 Titel"/>
          <p:cNvSpPr txBox="1"/>
          <p:nvPr/>
        </p:nvSpPr>
        <p:spPr>
          <a:xfrm>
            <a:off x="640080" y="777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Funktionsweise</a:t>
            </a:r>
            <a:endParaRPr lang="en-US" sz="4000" dirty="0"/>
          </a:p>
        </p:txBody>
      </p:sp>
      <p:sp>
        <p:nvSpPr>
          <p:cNvPr id="4" name="an2 Schritt"/>
          <p:cNvSpPr txBox="1"/>
          <p:nvPr/>
        </p:nvSpPr>
        <p:spPr>
          <a:xfrm>
            <a:off x="640080" y="192024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Daten sammeln</a:t>
            </a:r>
            <a:endParaRPr lang="en-US" sz="3200" dirty="0"/>
          </a:p>
        </p:txBody>
      </p:sp>
      <p:sp>
        <p:nvSpPr>
          <p:cNvPr id="5" name="an3 Text"/>
          <p:cNvSpPr txBox="1"/>
          <p:nvPr/>
        </p:nvSpPr>
        <p:spPr>
          <a:xfrm>
            <a:off x="640080" y="274320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KI bekommt riesige Mengen an Daten – z. B. Millionen Fotos von Straßen, Schildern und Fußgängern.</a:t>
            </a:r>
            <a:endParaRPr lang="en-US" sz="2200" dirty="0"/>
          </a:p>
        </p:txBody>
      </p:sp>
      <p:sp>
        <p:nvSpPr>
          <p:cNvPr id="6" name="!!line"/>
          <p:cNvSpPr/>
          <p:nvPr/>
        </p:nvSpPr>
        <p:spPr>
          <a:xfrm>
            <a:off x="640080" y="5879592"/>
            <a:ext cx="10881360" cy="36576"/>
          </a:xfrm>
          <a:prstGeom prst="rect">
            <a:avLst/>
          </a:prstGeom>
          <a:solidFill>
            <a:srgbClr val="2A3366"/>
          </a:solidFill>
          <a:ln w="12700">
            <a:solidFill>
              <a:srgbClr val="2A3366"/>
            </a:solidFill>
            <a:prstDash val="solid"/>
          </a:ln>
        </p:spPr>
      </p:sp>
      <p:sp>
        <p:nvSpPr>
          <p:cNvPr id="7" name="!!progress"/>
          <p:cNvSpPr/>
          <p:nvPr/>
        </p:nvSpPr>
        <p:spPr>
          <a:xfrm>
            <a:off x="640080" y="5870448"/>
            <a:ext cx="13716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!!node1"/>
          <p:cNvSpPr/>
          <p:nvPr/>
        </p:nvSpPr>
        <p:spPr>
          <a:xfrm>
            <a:off x="1874520" y="5760720"/>
            <a:ext cx="274320" cy="274320"/>
          </a:xfrm>
          <a:prstGeom prst="ellipse">
            <a:avLst/>
          </a:prstGeom>
          <a:solidFill>
            <a:srgbClr val="22D3EE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9" name="!!lab1"/>
          <p:cNvSpPr txBox="1"/>
          <p:nvPr/>
        </p:nvSpPr>
        <p:spPr>
          <a:xfrm>
            <a:off x="8229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</a:t>
            </a:r>
            <a:endParaRPr lang="en-US" sz="1500" dirty="0"/>
          </a:p>
        </p:txBody>
      </p:sp>
      <p:sp>
        <p:nvSpPr>
          <p:cNvPr id="10" name="!!node2"/>
          <p:cNvSpPr/>
          <p:nvPr/>
        </p:nvSpPr>
        <p:spPr>
          <a:xfrm>
            <a:off x="4617720" y="5760720"/>
            <a:ext cx="274320" cy="274320"/>
          </a:xfrm>
          <a:prstGeom prst="ellipse">
            <a:avLst/>
          </a:prstGeom>
          <a:solidFill>
            <a:srgbClr val="0A0F2B"/>
          </a:solidFill>
          <a:ln w="25400">
            <a:solidFill>
              <a:srgbClr val="2A3366"/>
            </a:solidFill>
            <a:prstDash val="solid"/>
          </a:ln>
        </p:spPr>
      </p:sp>
      <p:sp>
        <p:nvSpPr>
          <p:cNvPr id="11" name="!!lab2"/>
          <p:cNvSpPr txBox="1"/>
          <p:nvPr/>
        </p:nvSpPr>
        <p:spPr>
          <a:xfrm>
            <a:off x="35661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500" dirty="0"/>
          </a:p>
        </p:txBody>
      </p:sp>
      <p:sp>
        <p:nvSpPr>
          <p:cNvPr id="12" name="!!node3"/>
          <p:cNvSpPr/>
          <p:nvPr/>
        </p:nvSpPr>
        <p:spPr>
          <a:xfrm>
            <a:off x="7360920" y="5760720"/>
            <a:ext cx="274320" cy="274320"/>
          </a:xfrm>
          <a:prstGeom prst="ellipse">
            <a:avLst/>
          </a:prstGeom>
          <a:solidFill>
            <a:srgbClr val="0A0F2B"/>
          </a:solidFill>
          <a:ln w="25400">
            <a:solidFill>
              <a:srgbClr val="2A3366"/>
            </a:solidFill>
            <a:prstDash val="solid"/>
          </a:ln>
        </p:spPr>
      </p:sp>
      <p:sp>
        <p:nvSpPr>
          <p:cNvPr id="13" name="!!lab3"/>
          <p:cNvSpPr txBox="1"/>
          <p:nvPr/>
        </p:nvSpPr>
        <p:spPr>
          <a:xfrm>
            <a:off x="63093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500" dirty="0"/>
          </a:p>
        </p:txBody>
      </p:sp>
      <p:sp>
        <p:nvSpPr>
          <p:cNvPr id="14" name="!!node4"/>
          <p:cNvSpPr/>
          <p:nvPr/>
        </p:nvSpPr>
        <p:spPr>
          <a:xfrm>
            <a:off x="10104120" y="5760720"/>
            <a:ext cx="274320" cy="274320"/>
          </a:xfrm>
          <a:prstGeom prst="ellipse">
            <a:avLst/>
          </a:prstGeom>
          <a:solidFill>
            <a:srgbClr val="0A0F2B"/>
          </a:solidFill>
          <a:ln w="25400">
            <a:solidFill>
              <a:srgbClr val="2A3366"/>
            </a:solidFill>
            <a:prstDash val="solid"/>
          </a:ln>
        </p:spPr>
      </p:sp>
      <p:sp>
        <p:nvSpPr>
          <p:cNvPr id="15" name="!!lab4"/>
          <p:cNvSpPr txBox="1"/>
          <p:nvPr/>
        </p:nvSpPr>
        <p:spPr>
          <a:xfrm>
            <a:off x="90525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Vorhersage</a:t>
            </a:r>
            <a:endParaRPr lang="en-US" sz="15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10771632" y="384048"/>
              <a:ext cx="640080" cy="749808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640080" cy="749808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60000" ay="2880000" az="-36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10075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771632" y="384048"/>
                <a:ext cx="64008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11448288" y="384048"/>
              <a:ext cx="320040" cy="749808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320040" cy="749808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840000" ay="-2760000" az="30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8021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11448288" y="384048"/>
                <a:ext cx="32004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database" descr="3D-Modell database"/>
              <p:cNvGraphicFramePr>
                <a:graphicFrameLocks noChangeAspect="1"/>
              </p:cNvGraphicFramePr>
              <p:nvPr/>
            </p:nvGraphicFramePr>
            <p:xfrm>
              <a:off x="7190072" y="1017872"/>
              <a:ext cx="4090737" cy="4090737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4090737" cy="4090737"/>
                    </a:xfrm>
                    <a:prstGeom prst="rect">
                      <a:avLst/>
                    </a:prstGeom>
                  </am3d:spPr>
                  <am3d:camera>
                    <am3d:pos x="0" y="0" z="8129344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83092" d="1000000"/>
                    <am3d:preTrans dx="0" dy="86956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320000" ay="-180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26974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database" descr="3D-Modell database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190072" y="1017872"/>
                <a:ext cx="4090737" cy="40907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4" name="!!m_car" descr="3D-Modell car"/>
              <p:cNvGraphicFramePr>
                <a:graphicFrameLocks noChangeAspect="1"/>
              </p:cNvGraphicFramePr>
              <p:nvPr/>
            </p:nvGraphicFramePr>
            <p:xfrm>
              <a:off x="1015079" y="4538835"/>
              <a:ext cx="1989886" cy="1989886"/>
            </p:xfrm>
            <a:graphic>
              <a:graphicData uri="http://schemas.microsoft.com/office/drawing/2017/model3d">
                <am3d:model3d r:embed="rId106">
                  <am3d:spPr>
                    <a:xfrm>
                      <a:off x="0" y="0"/>
                      <a:ext cx="1989886" cy="1989886"/>
                    </a:xfrm>
                    <a:prstGeom prst="rect">
                      <a:avLst/>
                    </a:prstGeom>
                  </am3d:spPr>
                  <am3d:camera>
                    <am3d:pos x="0" y="0" z="5050541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7194" d="1000000"/>
                    <am3d:preTrans dx="43035" dy="104969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-1440000"/>
                    <am3d:postTrans dx="0" dy="0" dz="0"/>
                  </am3d:trans>
                  <am3d:raster rName="Office3DRenderer" rVer="16.0.8326">
                    <am3d:blip r:embed="rId107"/>
                  </am3d:raster>
                  <am3d:objViewport viewportSz="31089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4" name="!!m_car" descr="3D-Modell car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015079" y="4538835"/>
                <a:ext cx="1989886" cy="19898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5" name="!!m_gear" descr="3D-Modell gear"/>
              <p:cNvGraphicFramePr>
                <a:graphicFrameLocks noChangeAspect="1"/>
              </p:cNvGraphicFramePr>
              <p:nvPr/>
            </p:nvGraphicFramePr>
            <p:xfrm>
              <a:off x="12893040" y="873832"/>
              <a:ext cx="4378817" cy="4378817"/>
            </p:xfrm>
            <a:graphic>
              <a:graphicData uri="http://schemas.microsoft.com/office/drawing/2017/model3d">
                <am3d:model3d r:embed="rId108">
                  <am3d:spPr>
                    <a:xfrm>
                      <a:off x="0" y="0"/>
                      <a:ext cx="4378817" cy="4378817"/>
                    </a:xfrm>
                    <a:prstGeom prst="rect">
                      <a:avLst/>
                    </a:prstGeom>
                  </am3d:spPr>
                  <am3d:camera>
                    <am3d:pos x="0" y="0" z="6746146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2754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1920000" az="1080000"/>
                    <am3d:postTrans dx="0" dy="0" dz="0"/>
                  </am3d:trans>
                  <am3d:raster rName="Office3DRenderer" rVer="16.0.8326">
                    <am3d:blip r:embed="rId109"/>
                  </am3d:raster>
                  <am3d:objViewport viewportSz="22860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5" name="!!m_gear" descr="3D-Modell gear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2893040" y="873832"/>
                <a:ext cx="4378817" cy="43788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6" name="!!m_stop" descr="3D-Modell stop"/>
              <p:cNvGraphicFramePr>
                <a:graphicFrameLocks noChangeAspect="1"/>
              </p:cNvGraphicFramePr>
              <p:nvPr/>
            </p:nvGraphicFramePr>
            <p:xfrm>
              <a:off x="-4765232" y="863504"/>
              <a:ext cx="4399472" cy="4399472"/>
            </p:xfrm>
            <a:graphic>
              <a:graphicData uri="http://schemas.microsoft.com/office/drawing/2017/model3d">
                <am3d:model3d r:embed="rId110">
                  <am3d:spPr>
                    <a:xfrm>
                      <a:off x="0" y="0"/>
                      <a:ext cx="4399472" cy="4399472"/>
                    </a:xfrm>
                    <a:prstGeom prst="rect">
                      <a:avLst/>
                    </a:prstGeom>
                  </am3d:spPr>
                  <am3d:camera>
                    <am3d:pos x="0" y="0" z="6665994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4119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-1680000"/>
                    <am3d:postTrans dx="0" dy="0" dz="0"/>
                  </am3d:trans>
                  <am3d:raster rName="Office3DRenderer" rVer="16.0.8326">
                    <am3d:blip r:embed="rId111"/>
                  </am3d:raster>
                  <am3d:objViewport viewportSz="21945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6" name="!!m_stop" descr="3D-Modell stop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-4765232" y="863504"/>
                <a:ext cx="4399472" cy="4399472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1 Eyebrow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SO LERNT EINE KI</a:t>
            </a:r>
            <a:endParaRPr lang="en-US" sz="1300" dirty="0"/>
          </a:p>
        </p:txBody>
      </p:sp>
      <p:sp>
        <p:nvSpPr>
          <p:cNvPr id="3" name="an1 Titel"/>
          <p:cNvSpPr txBox="1"/>
          <p:nvPr/>
        </p:nvSpPr>
        <p:spPr>
          <a:xfrm>
            <a:off x="640080" y="777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Funktionsweise</a:t>
            </a:r>
            <a:endParaRPr lang="en-US" sz="4000" dirty="0"/>
          </a:p>
        </p:txBody>
      </p:sp>
      <p:sp>
        <p:nvSpPr>
          <p:cNvPr id="4" name="an2 Schritt"/>
          <p:cNvSpPr txBox="1"/>
          <p:nvPr/>
        </p:nvSpPr>
        <p:spPr>
          <a:xfrm>
            <a:off x="640080" y="192024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Training</a:t>
            </a:r>
            <a:endParaRPr lang="en-US" sz="3200" dirty="0"/>
          </a:p>
        </p:txBody>
      </p:sp>
      <p:sp>
        <p:nvSpPr>
          <p:cNvPr id="5" name="an3 Text"/>
          <p:cNvSpPr txBox="1"/>
          <p:nvPr/>
        </p:nvSpPr>
        <p:spPr>
          <a:xfrm>
            <a:off x="640080" y="274320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KI übt mit den Daten: Sie rät, vergleicht mit der richtigen Lösung und verbessert sich – immer wieder.</a:t>
            </a:r>
            <a:endParaRPr lang="en-US" sz="2200" dirty="0"/>
          </a:p>
        </p:txBody>
      </p:sp>
      <p:sp>
        <p:nvSpPr>
          <p:cNvPr id="6" name="!!line"/>
          <p:cNvSpPr/>
          <p:nvPr/>
        </p:nvSpPr>
        <p:spPr>
          <a:xfrm>
            <a:off x="640080" y="5879592"/>
            <a:ext cx="10881360" cy="36576"/>
          </a:xfrm>
          <a:prstGeom prst="rect">
            <a:avLst/>
          </a:prstGeom>
          <a:solidFill>
            <a:srgbClr val="2A3366"/>
          </a:solidFill>
          <a:ln w="12700">
            <a:solidFill>
              <a:srgbClr val="2A3366"/>
            </a:solidFill>
            <a:prstDash val="solid"/>
          </a:ln>
        </p:spPr>
      </p:sp>
      <p:sp>
        <p:nvSpPr>
          <p:cNvPr id="7" name="!!progress"/>
          <p:cNvSpPr/>
          <p:nvPr/>
        </p:nvSpPr>
        <p:spPr>
          <a:xfrm>
            <a:off x="640080" y="5870448"/>
            <a:ext cx="41148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!!node1"/>
          <p:cNvSpPr/>
          <p:nvPr/>
        </p:nvSpPr>
        <p:spPr>
          <a:xfrm>
            <a:off x="1874520" y="5760720"/>
            <a:ext cx="274320" cy="274320"/>
          </a:xfrm>
          <a:prstGeom prst="ellipse">
            <a:avLst/>
          </a:prstGeom>
          <a:solidFill>
            <a:srgbClr val="22D3EE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9" name="!!lab1"/>
          <p:cNvSpPr txBox="1"/>
          <p:nvPr/>
        </p:nvSpPr>
        <p:spPr>
          <a:xfrm>
            <a:off x="8229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</a:t>
            </a:r>
            <a:endParaRPr lang="en-US" sz="1500" dirty="0"/>
          </a:p>
        </p:txBody>
      </p:sp>
      <p:sp>
        <p:nvSpPr>
          <p:cNvPr id="10" name="!!node2"/>
          <p:cNvSpPr/>
          <p:nvPr/>
        </p:nvSpPr>
        <p:spPr>
          <a:xfrm>
            <a:off x="4617720" y="5760720"/>
            <a:ext cx="274320" cy="274320"/>
          </a:xfrm>
          <a:prstGeom prst="ellipse">
            <a:avLst/>
          </a:prstGeom>
          <a:solidFill>
            <a:srgbClr val="22D3EE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1" name="!!lab2"/>
          <p:cNvSpPr txBox="1"/>
          <p:nvPr/>
        </p:nvSpPr>
        <p:spPr>
          <a:xfrm>
            <a:off x="35661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500" dirty="0"/>
          </a:p>
        </p:txBody>
      </p:sp>
      <p:sp>
        <p:nvSpPr>
          <p:cNvPr id="12" name="!!node3"/>
          <p:cNvSpPr/>
          <p:nvPr/>
        </p:nvSpPr>
        <p:spPr>
          <a:xfrm>
            <a:off x="7360920" y="5760720"/>
            <a:ext cx="274320" cy="274320"/>
          </a:xfrm>
          <a:prstGeom prst="ellipse">
            <a:avLst/>
          </a:prstGeom>
          <a:solidFill>
            <a:srgbClr val="0A0F2B"/>
          </a:solidFill>
          <a:ln w="25400">
            <a:solidFill>
              <a:srgbClr val="2A3366"/>
            </a:solidFill>
            <a:prstDash val="solid"/>
          </a:ln>
        </p:spPr>
      </p:sp>
      <p:sp>
        <p:nvSpPr>
          <p:cNvPr id="13" name="!!lab3"/>
          <p:cNvSpPr txBox="1"/>
          <p:nvPr/>
        </p:nvSpPr>
        <p:spPr>
          <a:xfrm>
            <a:off x="63093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500" dirty="0"/>
          </a:p>
        </p:txBody>
      </p:sp>
      <p:sp>
        <p:nvSpPr>
          <p:cNvPr id="14" name="!!node4"/>
          <p:cNvSpPr/>
          <p:nvPr/>
        </p:nvSpPr>
        <p:spPr>
          <a:xfrm>
            <a:off x="10104120" y="5760720"/>
            <a:ext cx="274320" cy="274320"/>
          </a:xfrm>
          <a:prstGeom prst="ellipse">
            <a:avLst/>
          </a:prstGeom>
          <a:solidFill>
            <a:srgbClr val="0A0F2B"/>
          </a:solidFill>
          <a:ln w="25400">
            <a:solidFill>
              <a:srgbClr val="2A3366"/>
            </a:solidFill>
            <a:prstDash val="solid"/>
          </a:ln>
        </p:spPr>
      </p:sp>
      <p:sp>
        <p:nvSpPr>
          <p:cNvPr id="15" name="!!lab4"/>
          <p:cNvSpPr txBox="1"/>
          <p:nvPr/>
        </p:nvSpPr>
        <p:spPr>
          <a:xfrm>
            <a:off x="90525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Vorhersage</a:t>
            </a:r>
            <a:endParaRPr lang="en-US" sz="15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10771632" y="384048"/>
              <a:ext cx="640080" cy="749808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640080" cy="749808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60000" ay="2880000" az="-36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10075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771632" y="384048"/>
                <a:ext cx="64008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11448288" y="384048"/>
              <a:ext cx="320040" cy="749808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320040" cy="749808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840000" ay="-2760000" az="30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8021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11448288" y="384048"/>
                <a:ext cx="32004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gear" descr="3D-Modell gear"/>
              <p:cNvGraphicFramePr>
                <a:graphicFrameLocks noChangeAspect="1"/>
              </p:cNvGraphicFramePr>
              <p:nvPr/>
            </p:nvGraphicFramePr>
            <p:xfrm>
              <a:off x="7046032" y="873832"/>
              <a:ext cx="4378817" cy="4378817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4378817" cy="4378817"/>
                    </a:xfrm>
                    <a:prstGeom prst="rect">
                      <a:avLst/>
                    </a:prstGeom>
                  </am3d:spPr>
                  <am3d:camera>
                    <am3d:pos x="0" y="0" z="6746146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2754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1920000" az="108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22860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gear" descr="3D-Modell gear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046032" y="873832"/>
                <a:ext cx="4378817" cy="43788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4" name="!!m_car" descr="3D-Modell car"/>
              <p:cNvGraphicFramePr>
                <a:graphicFrameLocks noChangeAspect="1"/>
              </p:cNvGraphicFramePr>
              <p:nvPr/>
            </p:nvGraphicFramePr>
            <p:xfrm>
              <a:off x="3758279" y="4538835"/>
              <a:ext cx="1989886" cy="1989886"/>
            </p:xfrm>
            <a:graphic>
              <a:graphicData uri="http://schemas.microsoft.com/office/drawing/2017/model3d">
                <am3d:model3d r:embed="rId106">
                  <am3d:spPr>
                    <a:xfrm>
                      <a:off x="0" y="0"/>
                      <a:ext cx="1989886" cy="1989886"/>
                    </a:xfrm>
                    <a:prstGeom prst="rect">
                      <a:avLst/>
                    </a:prstGeom>
                  </am3d:spPr>
                  <am3d:camera>
                    <am3d:pos x="0" y="0" z="5050541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7194" d="1000000"/>
                    <am3d:preTrans dx="43035" dy="104969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-1440000"/>
                    <am3d:postTrans dx="0" dy="0" dz="0"/>
                  </am3d:trans>
                  <am3d:raster rName="Office3DRenderer" rVer="16.0.8326">
                    <am3d:blip r:embed="rId107"/>
                  </am3d:raster>
                  <am3d:objViewport viewportSz="31089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4" name="!!m_car" descr="3D-Modell car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3758279" y="4538835"/>
                <a:ext cx="1989886" cy="19898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5" name="!!m_net" descr="3D-Modell net"/>
              <p:cNvGraphicFramePr>
                <a:graphicFrameLocks noChangeAspect="1"/>
              </p:cNvGraphicFramePr>
              <p:nvPr/>
            </p:nvGraphicFramePr>
            <p:xfrm>
              <a:off x="12893040" y="303808"/>
              <a:ext cx="5518864" cy="5518864"/>
            </p:xfrm>
            <a:graphic>
              <a:graphicData uri="http://schemas.microsoft.com/office/drawing/2017/model3d">
                <am3d:model3d r:embed="rId108">
                  <am3d:spPr>
                    <a:xfrm>
                      <a:off x="0" y="0"/>
                      <a:ext cx="5518864" cy="5518864"/>
                    </a:xfrm>
                    <a:prstGeom prst="rect">
                      <a:avLst/>
                    </a:prstGeom>
                  </am3d:spPr>
                  <am3d:camera>
                    <am3d:pos x="0" y="0" z="8142172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6511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840000" ay="-1800000"/>
                    <am3d:postTrans dx="0" dy="0" dz="0"/>
                  </am3d:trans>
                  <am3d:raster rName="Office3DRenderer" rVer="16.0.8326">
                    <am3d:blip r:embed="rId109"/>
                  </am3d:raster>
                  <am3d:objViewport viewportSz="27432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5" name="!!m_net" descr="3D-Modell net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2893040" y="303808"/>
                <a:ext cx="5518864" cy="55188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6" name="!!m_database" descr="3D-Modell database"/>
              <p:cNvGraphicFramePr>
                <a:graphicFrameLocks noChangeAspect="1"/>
              </p:cNvGraphicFramePr>
              <p:nvPr/>
            </p:nvGraphicFramePr>
            <p:xfrm>
              <a:off x="-4456497" y="1017872"/>
              <a:ext cx="4090737" cy="4090737"/>
            </p:xfrm>
            <a:graphic>
              <a:graphicData uri="http://schemas.microsoft.com/office/drawing/2017/model3d">
                <am3d:model3d r:embed="rId110">
                  <am3d:spPr>
                    <a:xfrm>
                      <a:off x="0" y="0"/>
                      <a:ext cx="4090737" cy="4090737"/>
                    </a:xfrm>
                    <a:prstGeom prst="rect">
                      <a:avLst/>
                    </a:prstGeom>
                  </am3d:spPr>
                  <am3d:camera>
                    <am3d:pos x="0" y="0" z="8129344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83092" d="1000000"/>
                    <am3d:preTrans dx="0" dy="86956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320000" ay="-1800000"/>
                    <am3d:postTrans dx="0" dy="0" dz="0"/>
                  </am3d:trans>
                  <am3d:raster rName="Office3DRenderer" rVer="16.0.8326">
                    <am3d:blip r:embed="rId111"/>
                  </am3d:raster>
                  <am3d:objViewport viewportSz="26974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6" name="!!m_database" descr="3D-Modell database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-4456497" y="1017872"/>
                <a:ext cx="4090737" cy="4090737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1 Eyebrow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SO LERNT EINE KI</a:t>
            </a:r>
            <a:endParaRPr lang="en-US" sz="1300" dirty="0"/>
          </a:p>
        </p:txBody>
      </p:sp>
      <p:sp>
        <p:nvSpPr>
          <p:cNvPr id="3" name="an1 Titel"/>
          <p:cNvSpPr txBox="1"/>
          <p:nvPr/>
        </p:nvSpPr>
        <p:spPr>
          <a:xfrm>
            <a:off x="640080" y="777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Funktionsweise</a:t>
            </a:r>
            <a:endParaRPr lang="en-US" sz="4000" dirty="0"/>
          </a:p>
        </p:txBody>
      </p:sp>
      <p:sp>
        <p:nvSpPr>
          <p:cNvPr id="4" name="an2 Schritt"/>
          <p:cNvSpPr txBox="1"/>
          <p:nvPr/>
        </p:nvSpPr>
        <p:spPr>
          <a:xfrm>
            <a:off x="640080" y="192024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Deep Learning</a:t>
            </a:r>
            <a:endParaRPr lang="en-US" sz="3200" dirty="0"/>
          </a:p>
        </p:txBody>
      </p:sp>
      <p:sp>
        <p:nvSpPr>
          <p:cNvPr id="5" name="an3 Text"/>
          <p:cNvSpPr txBox="1"/>
          <p:nvPr/>
        </p:nvSpPr>
        <p:spPr>
          <a:xfrm>
            <a:off x="640080" y="274320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künstliches neuronales Netz mit vielen Schichten erkennt dabei Muster: Form, Farbe und Schrift eines Stoppschilds.</a:t>
            </a:r>
            <a:endParaRPr lang="en-US" sz="2200" dirty="0"/>
          </a:p>
        </p:txBody>
      </p:sp>
      <p:sp>
        <p:nvSpPr>
          <p:cNvPr id="6" name="!!line"/>
          <p:cNvSpPr/>
          <p:nvPr/>
        </p:nvSpPr>
        <p:spPr>
          <a:xfrm>
            <a:off x="640080" y="5879592"/>
            <a:ext cx="10881360" cy="36576"/>
          </a:xfrm>
          <a:prstGeom prst="rect">
            <a:avLst/>
          </a:prstGeom>
          <a:solidFill>
            <a:srgbClr val="2A3366"/>
          </a:solidFill>
          <a:ln w="12700">
            <a:solidFill>
              <a:srgbClr val="2A3366"/>
            </a:solidFill>
            <a:prstDash val="solid"/>
          </a:ln>
        </p:spPr>
      </p:sp>
      <p:sp>
        <p:nvSpPr>
          <p:cNvPr id="7" name="!!progress"/>
          <p:cNvSpPr/>
          <p:nvPr/>
        </p:nvSpPr>
        <p:spPr>
          <a:xfrm>
            <a:off x="640080" y="5870448"/>
            <a:ext cx="68580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!!node1"/>
          <p:cNvSpPr/>
          <p:nvPr/>
        </p:nvSpPr>
        <p:spPr>
          <a:xfrm>
            <a:off x="1874520" y="5760720"/>
            <a:ext cx="274320" cy="274320"/>
          </a:xfrm>
          <a:prstGeom prst="ellipse">
            <a:avLst/>
          </a:prstGeom>
          <a:solidFill>
            <a:srgbClr val="22D3EE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9" name="!!lab1"/>
          <p:cNvSpPr txBox="1"/>
          <p:nvPr/>
        </p:nvSpPr>
        <p:spPr>
          <a:xfrm>
            <a:off x="8229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</a:t>
            </a:r>
            <a:endParaRPr lang="en-US" sz="1500" dirty="0"/>
          </a:p>
        </p:txBody>
      </p:sp>
      <p:sp>
        <p:nvSpPr>
          <p:cNvPr id="10" name="!!node2"/>
          <p:cNvSpPr/>
          <p:nvPr/>
        </p:nvSpPr>
        <p:spPr>
          <a:xfrm>
            <a:off x="4617720" y="5760720"/>
            <a:ext cx="274320" cy="274320"/>
          </a:xfrm>
          <a:prstGeom prst="ellipse">
            <a:avLst/>
          </a:prstGeom>
          <a:solidFill>
            <a:srgbClr val="22D3EE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1" name="!!lab2"/>
          <p:cNvSpPr txBox="1"/>
          <p:nvPr/>
        </p:nvSpPr>
        <p:spPr>
          <a:xfrm>
            <a:off x="35661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500" dirty="0"/>
          </a:p>
        </p:txBody>
      </p:sp>
      <p:sp>
        <p:nvSpPr>
          <p:cNvPr id="12" name="!!node3"/>
          <p:cNvSpPr/>
          <p:nvPr/>
        </p:nvSpPr>
        <p:spPr>
          <a:xfrm>
            <a:off x="7360920" y="5760720"/>
            <a:ext cx="274320" cy="274320"/>
          </a:xfrm>
          <a:prstGeom prst="ellipse">
            <a:avLst/>
          </a:prstGeom>
          <a:solidFill>
            <a:srgbClr val="22D3EE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3" name="!!lab3"/>
          <p:cNvSpPr txBox="1"/>
          <p:nvPr/>
        </p:nvSpPr>
        <p:spPr>
          <a:xfrm>
            <a:off x="63093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500" dirty="0"/>
          </a:p>
        </p:txBody>
      </p:sp>
      <p:sp>
        <p:nvSpPr>
          <p:cNvPr id="14" name="!!node4"/>
          <p:cNvSpPr/>
          <p:nvPr/>
        </p:nvSpPr>
        <p:spPr>
          <a:xfrm>
            <a:off x="10104120" y="5760720"/>
            <a:ext cx="274320" cy="274320"/>
          </a:xfrm>
          <a:prstGeom prst="ellipse">
            <a:avLst/>
          </a:prstGeom>
          <a:solidFill>
            <a:srgbClr val="0A0F2B"/>
          </a:solidFill>
          <a:ln w="25400">
            <a:solidFill>
              <a:srgbClr val="2A3366"/>
            </a:solidFill>
            <a:prstDash val="solid"/>
          </a:ln>
        </p:spPr>
      </p:sp>
      <p:sp>
        <p:nvSpPr>
          <p:cNvPr id="15" name="!!lab4"/>
          <p:cNvSpPr txBox="1"/>
          <p:nvPr/>
        </p:nvSpPr>
        <p:spPr>
          <a:xfrm>
            <a:off x="90525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Vorhersage</a:t>
            </a:r>
            <a:endParaRPr lang="en-US" sz="15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10771632" y="384048"/>
              <a:ext cx="640080" cy="749808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640080" cy="749808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60000" ay="2880000" az="-36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10075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771632" y="384048"/>
                <a:ext cx="64008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11448288" y="384048"/>
              <a:ext cx="320040" cy="749808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320040" cy="749808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840000" ay="-2760000" az="30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8021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11448288" y="384048"/>
                <a:ext cx="32004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net" descr="3D-Modell net"/>
              <p:cNvGraphicFramePr>
                <a:graphicFrameLocks noChangeAspect="1"/>
              </p:cNvGraphicFramePr>
              <p:nvPr/>
            </p:nvGraphicFramePr>
            <p:xfrm>
              <a:off x="6476008" y="303808"/>
              <a:ext cx="5518864" cy="5518864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5518864" cy="5518864"/>
                    </a:xfrm>
                    <a:prstGeom prst="rect">
                      <a:avLst/>
                    </a:prstGeom>
                  </am3d:spPr>
                  <am3d:camera>
                    <am3d:pos x="0" y="0" z="8142172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6511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840000" ay="-180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27432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net" descr="3D-Modell net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6476008" y="303808"/>
                <a:ext cx="5518864" cy="55188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4" name="!!m_car" descr="3D-Modell car"/>
              <p:cNvGraphicFramePr>
                <a:graphicFrameLocks noChangeAspect="1"/>
              </p:cNvGraphicFramePr>
              <p:nvPr/>
            </p:nvGraphicFramePr>
            <p:xfrm>
              <a:off x="6501479" y="4538835"/>
              <a:ext cx="1989886" cy="1989886"/>
            </p:xfrm>
            <a:graphic>
              <a:graphicData uri="http://schemas.microsoft.com/office/drawing/2017/model3d">
                <am3d:model3d r:embed="rId106">
                  <am3d:spPr>
                    <a:xfrm>
                      <a:off x="0" y="0"/>
                      <a:ext cx="1989886" cy="1989886"/>
                    </a:xfrm>
                    <a:prstGeom prst="rect">
                      <a:avLst/>
                    </a:prstGeom>
                  </am3d:spPr>
                  <am3d:camera>
                    <am3d:pos x="0" y="0" z="5050541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7194" d="1000000"/>
                    <am3d:preTrans dx="43035" dy="104969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-1440000"/>
                    <am3d:postTrans dx="0" dy="0" dz="0"/>
                  </am3d:trans>
                  <am3d:raster rName="Office3DRenderer" rVer="16.0.8326">
                    <am3d:blip r:embed="rId107"/>
                  </am3d:raster>
                  <am3d:objViewport viewportSz="31089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4" name="!!m_car" descr="3D-Modell car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6501479" y="4538835"/>
                <a:ext cx="1989886" cy="19898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5" name="!!m_stop" descr="3D-Modell stop"/>
              <p:cNvGraphicFramePr>
                <a:graphicFrameLocks noChangeAspect="1"/>
              </p:cNvGraphicFramePr>
              <p:nvPr/>
            </p:nvGraphicFramePr>
            <p:xfrm>
              <a:off x="12893040" y="863504"/>
              <a:ext cx="4399472" cy="4399472"/>
            </p:xfrm>
            <a:graphic>
              <a:graphicData uri="http://schemas.microsoft.com/office/drawing/2017/model3d">
                <am3d:model3d r:embed="rId108">
                  <am3d:spPr>
                    <a:xfrm>
                      <a:off x="0" y="0"/>
                      <a:ext cx="4399472" cy="4399472"/>
                    </a:xfrm>
                    <a:prstGeom prst="rect">
                      <a:avLst/>
                    </a:prstGeom>
                  </am3d:spPr>
                  <am3d:camera>
                    <am3d:pos x="0" y="0" z="6665994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4119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1440000"/>
                    <am3d:postTrans dx="0" dy="0" dz="0"/>
                  </am3d:trans>
                  <am3d:raster rName="Office3DRenderer" rVer="16.0.8326">
                    <am3d:blip r:embed="rId109"/>
                  </am3d:raster>
                  <am3d:objViewport viewportSz="21945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5" name="!!m_stop" descr="3D-Modell stop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2893040" y="863504"/>
                <a:ext cx="4399472" cy="43994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6" name="!!m_gear" descr="3D-Modell gear"/>
              <p:cNvGraphicFramePr>
                <a:graphicFrameLocks noChangeAspect="1"/>
              </p:cNvGraphicFramePr>
              <p:nvPr/>
            </p:nvGraphicFramePr>
            <p:xfrm>
              <a:off x="-4744577" y="873832"/>
              <a:ext cx="4378817" cy="4378817"/>
            </p:xfrm>
            <a:graphic>
              <a:graphicData uri="http://schemas.microsoft.com/office/drawing/2017/model3d">
                <am3d:model3d r:embed="rId110">
                  <am3d:spPr>
                    <a:xfrm>
                      <a:off x="0" y="0"/>
                      <a:ext cx="4378817" cy="4378817"/>
                    </a:xfrm>
                    <a:prstGeom prst="rect">
                      <a:avLst/>
                    </a:prstGeom>
                  </am3d:spPr>
                  <am3d:camera>
                    <am3d:pos x="0" y="0" z="6746146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2754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1920000" az="1080000"/>
                    <am3d:postTrans dx="0" dy="0" dz="0"/>
                  </am3d:trans>
                  <am3d:raster rName="Office3DRenderer" rVer="16.0.8326">
                    <am3d:blip r:embed="rId111"/>
                  </am3d:raster>
                  <am3d:objViewport viewportSz="22860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6" name="!!m_gear" descr="3D-Modell gear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-4744577" y="873832"/>
                <a:ext cx="4378817" cy="4378817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1 Eyebrow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SO LERNT EINE KI</a:t>
            </a:r>
            <a:endParaRPr lang="en-US" sz="1300" dirty="0"/>
          </a:p>
        </p:txBody>
      </p:sp>
      <p:sp>
        <p:nvSpPr>
          <p:cNvPr id="3" name="an1 Titel"/>
          <p:cNvSpPr txBox="1"/>
          <p:nvPr/>
        </p:nvSpPr>
        <p:spPr>
          <a:xfrm>
            <a:off x="640080" y="777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Funktionsweise</a:t>
            </a:r>
            <a:endParaRPr lang="en-US" sz="4000" dirty="0"/>
          </a:p>
        </p:txBody>
      </p:sp>
      <p:sp>
        <p:nvSpPr>
          <p:cNvPr id="4" name="an2 Schritt"/>
          <p:cNvSpPr txBox="1"/>
          <p:nvPr/>
        </p:nvSpPr>
        <p:spPr>
          <a:xfrm>
            <a:off x="640080" y="192024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Vorhersage</a:t>
            </a:r>
            <a:endParaRPr lang="en-US" sz="3200" dirty="0"/>
          </a:p>
        </p:txBody>
      </p:sp>
      <p:sp>
        <p:nvSpPr>
          <p:cNvPr id="5" name="an3 Text"/>
          <p:cNvSpPr txBox="1"/>
          <p:nvPr/>
        </p:nvSpPr>
        <p:spPr>
          <a:xfrm>
            <a:off x="640080" y="274320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 erkennt die KI auch neue Bilder: „Das ist ein Stoppschild → bremsen!“ Sie rechnet mit Wahrscheinlichkeiten – Fehler sind möglich.</a:t>
            </a:r>
            <a:endParaRPr lang="en-US" sz="2200" dirty="0"/>
          </a:p>
        </p:txBody>
      </p:sp>
      <p:sp>
        <p:nvSpPr>
          <p:cNvPr id="6" name="!!line"/>
          <p:cNvSpPr/>
          <p:nvPr/>
        </p:nvSpPr>
        <p:spPr>
          <a:xfrm>
            <a:off x="640080" y="5879592"/>
            <a:ext cx="10881360" cy="36576"/>
          </a:xfrm>
          <a:prstGeom prst="rect">
            <a:avLst/>
          </a:prstGeom>
          <a:solidFill>
            <a:srgbClr val="2A3366"/>
          </a:solidFill>
          <a:ln w="12700">
            <a:solidFill>
              <a:srgbClr val="2A3366"/>
            </a:solidFill>
            <a:prstDash val="solid"/>
          </a:ln>
        </p:spPr>
      </p:sp>
      <p:sp>
        <p:nvSpPr>
          <p:cNvPr id="7" name="!!progress"/>
          <p:cNvSpPr/>
          <p:nvPr/>
        </p:nvSpPr>
        <p:spPr>
          <a:xfrm>
            <a:off x="640080" y="5870448"/>
            <a:ext cx="96012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!!node1"/>
          <p:cNvSpPr/>
          <p:nvPr/>
        </p:nvSpPr>
        <p:spPr>
          <a:xfrm>
            <a:off x="1874520" y="5760720"/>
            <a:ext cx="274320" cy="274320"/>
          </a:xfrm>
          <a:prstGeom prst="ellipse">
            <a:avLst/>
          </a:prstGeom>
          <a:solidFill>
            <a:srgbClr val="22D3EE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9" name="!!lab1"/>
          <p:cNvSpPr txBox="1"/>
          <p:nvPr/>
        </p:nvSpPr>
        <p:spPr>
          <a:xfrm>
            <a:off x="8229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</a:t>
            </a:r>
            <a:endParaRPr lang="en-US" sz="1500" dirty="0"/>
          </a:p>
        </p:txBody>
      </p:sp>
      <p:sp>
        <p:nvSpPr>
          <p:cNvPr id="10" name="!!node2"/>
          <p:cNvSpPr/>
          <p:nvPr/>
        </p:nvSpPr>
        <p:spPr>
          <a:xfrm>
            <a:off x="4617720" y="5760720"/>
            <a:ext cx="274320" cy="274320"/>
          </a:xfrm>
          <a:prstGeom prst="ellipse">
            <a:avLst/>
          </a:prstGeom>
          <a:solidFill>
            <a:srgbClr val="22D3EE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1" name="!!lab2"/>
          <p:cNvSpPr txBox="1"/>
          <p:nvPr/>
        </p:nvSpPr>
        <p:spPr>
          <a:xfrm>
            <a:off x="35661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500" dirty="0"/>
          </a:p>
        </p:txBody>
      </p:sp>
      <p:sp>
        <p:nvSpPr>
          <p:cNvPr id="12" name="!!node3"/>
          <p:cNvSpPr/>
          <p:nvPr/>
        </p:nvSpPr>
        <p:spPr>
          <a:xfrm>
            <a:off x="7360920" y="5760720"/>
            <a:ext cx="274320" cy="274320"/>
          </a:xfrm>
          <a:prstGeom prst="ellipse">
            <a:avLst/>
          </a:prstGeom>
          <a:solidFill>
            <a:srgbClr val="22D3EE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3" name="!!lab3"/>
          <p:cNvSpPr txBox="1"/>
          <p:nvPr/>
        </p:nvSpPr>
        <p:spPr>
          <a:xfrm>
            <a:off x="63093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500" dirty="0"/>
          </a:p>
        </p:txBody>
      </p:sp>
      <p:sp>
        <p:nvSpPr>
          <p:cNvPr id="14" name="!!node4"/>
          <p:cNvSpPr/>
          <p:nvPr/>
        </p:nvSpPr>
        <p:spPr>
          <a:xfrm>
            <a:off x="10104120" y="5760720"/>
            <a:ext cx="274320" cy="274320"/>
          </a:xfrm>
          <a:prstGeom prst="ellipse">
            <a:avLst/>
          </a:prstGeom>
          <a:solidFill>
            <a:srgbClr val="22D3EE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5" name="!!lab4"/>
          <p:cNvSpPr txBox="1"/>
          <p:nvPr/>
        </p:nvSpPr>
        <p:spPr>
          <a:xfrm>
            <a:off x="9052560" y="6153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Vorhersage</a:t>
            </a:r>
            <a:endParaRPr lang="en-US" sz="15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10771632" y="384048"/>
              <a:ext cx="640080" cy="749808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640080" cy="749808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60000" ay="2880000" az="-36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10075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771632" y="384048"/>
                <a:ext cx="64008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11448288" y="384048"/>
              <a:ext cx="320040" cy="749808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320040" cy="749808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840000" ay="-2760000" az="30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8021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11448288" y="384048"/>
                <a:ext cx="32004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stop" descr="3D-Modell stop"/>
              <p:cNvGraphicFramePr>
                <a:graphicFrameLocks noChangeAspect="1"/>
              </p:cNvGraphicFramePr>
              <p:nvPr/>
            </p:nvGraphicFramePr>
            <p:xfrm>
              <a:off x="7035704" y="863504"/>
              <a:ext cx="4399472" cy="4399472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4399472" cy="4399472"/>
                    </a:xfrm>
                    <a:prstGeom prst="rect">
                      <a:avLst/>
                    </a:prstGeom>
                  </am3d:spPr>
                  <am3d:camera>
                    <am3d:pos x="0" y="0" z="6665994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4119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144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21945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stop" descr="3D-Modell stop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035704" y="863504"/>
                <a:ext cx="4399472" cy="43994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4" name="!!m_car" descr="3D-Modell car"/>
              <p:cNvGraphicFramePr>
                <a:graphicFrameLocks noChangeAspect="1"/>
              </p:cNvGraphicFramePr>
              <p:nvPr/>
            </p:nvGraphicFramePr>
            <p:xfrm>
              <a:off x="9244679" y="4538835"/>
              <a:ext cx="1989886" cy="1989886"/>
            </p:xfrm>
            <a:graphic>
              <a:graphicData uri="http://schemas.microsoft.com/office/drawing/2017/model3d">
                <am3d:model3d r:embed="rId106">
                  <am3d:spPr>
                    <a:xfrm>
                      <a:off x="0" y="0"/>
                      <a:ext cx="1989886" cy="1989886"/>
                    </a:xfrm>
                    <a:prstGeom prst="rect">
                      <a:avLst/>
                    </a:prstGeom>
                  </am3d:spPr>
                  <am3d:camera>
                    <am3d:pos x="0" y="0" z="5050541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7194" d="1000000"/>
                    <am3d:preTrans dx="43035" dy="104969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-1440000"/>
                    <am3d:postTrans dx="0" dy="0" dz="0"/>
                  </am3d:trans>
                  <am3d:raster rName="Office3DRenderer" rVer="16.0.8326">
                    <am3d:blip r:embed="rId107"/>
                  </am3d:raster>
                  <am3d:objViewport viewportSz="31089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4" name="!!m_car" descr="3D-Modell car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9244679" y="4538835"/>
                <a:ext cx="1989886" cy="19898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5" name="!!m_net" descr="3D-Modell net"/>
              <p:cNvGraphicFramePr>
                <a:graphicFrameLocks noChangeAspect="1"/>
              </p:cNvGraphicFramePr>
              <p:nvPr/>
            </p:nvGraphicFramePr>
            <p:xfrm>
              <a:off x="-5884624" y="303808"/>
              <a:ext cx="5518864" cy="5518864"/>
            </p:xfrm>
            <a:graphic>
              <a:graphicData uri="http://schemas.microsoft.com/office/drawing/2017/model3d">
                <am3d:model3d r:embed="rId108">
                  <am3d:spPr>
                    <a:xfrm>
                      <a:off x="0" y="0"/>
                      <a:ext cx="5518864" cy="5518864"/>
                    </a:xfrm>
                    <a:prstGeom prst="rect">
                      <a:avLst/>
                    </a:prstGeom>
                  </am3d:spPr>
                  <am3d:camera>
                    <am3d:pos x="0" y="0" z="8142172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6511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840000" ay="-1800000"/>
                    <am3d:postTrans dx="0" dy="0" dz="0"/>
                  </am3d:trans>
                  <am3d:raster rName="Office3DRenderer" rVer="16.0.8326">
                    <am3d:blip r:embed="rId109"/>
                  </am3d:raster>
                  <am3d:objViewport viewportSz="27432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5" name="!!m_net" descr="3D-Modell net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-5884624" y="303808"/>
                <a:ext cx="5518864" cy="5518864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1 Eyebrow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RICHTIG FRAGEN</a:t>
            </a:r>
            <a:endParaRPr lang="en-US" sz="1300" dirty="0"/>
          </a:p>
        </p:txBody>
      </p:sp>
      <p:sp>
        <p:nvSpPr>
          <p:cNvPr id="3" name="an1 Titel"/>
          <p:cNvSpPr txBox="1"/>
          <p:nvPr/>
        </p:nvSpPr>
        <p:spPr>
          <a:xfrm>
            <a:off x="640080" y="777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Writing</a:t>
            </a:r>
            <a:endParaRPr lang="en-US" sz="4000" dirty="0"/>
          </a:p>
        </p:txBody>
      </p:sp>
      <p:sp>
        <p:nvSpPr>
          <p:cNvPr id="4" name="an2 Label"/>
          <p:cNvSpPr txBox="1"/>
          <p:nvPr/>
        </p:nvSpPr>
        <p:spPr>
          <a:xfrm>
            <a:off x="64008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nicht</a:t>
            </a:r>
            <a:endParaRPr lang="en-US" sz="1400" dirty="0"/>
          </a:p>
        </p:txBody>
      </p:sp>
      <p:sp>
        <p:nvSpPr>
          <p:cNvPr id="5" name="an2 Box"/>
          <p:cNvSpPr/>
          <p:nvPr/>
        </p:nvSpPr>
        <p:spPr>
          <a:xfrm>
            <a:off x="640080" y="2194560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3A1F33"/>
          </a:solidFill>
          <a:ln w="12700">
            <a:solidFill>
              <a:srgbClr val="3A1F33"/>
            </a:solidFill>
            <a:prstDash val="solid"/>
          </a:ln>
        </p:spPr>
      </p:sp>
      <p:sp>
        <p:nvSpPr>
          <p:cNvPr id="6" name="an2 Prompt"/>
          <p:cNvSpPr txBox="1"/>
          <p:nvPr/>
        </p:nvSpPr>
        <p:spPr>
          <a:xfrm>
            <a:off x="914400" y="21945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Photosynthese</a:t>
            </a:r>
            <a:endParaRPr lang="en-US" sz="2200" dirty="0"/>
          </a:p>
        </p:txBody>
      </p:sp>
      <p:sp>
        <p:nvSpPr>
          <p:cNvPr id="7" name="an3 Hinweis"/>
          <p:cNvSpPr txBox="1"/>
          <p:nvPr/>
        </p:nvSpPr>
        <p:spPr>
          <a:xfrm>
            <a:off x="64008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 ungenau</a:t>
            </a:r>
            <a:endParaRPr lang="en-US" sz="1400" dirty="0"/>
          </a:p>
        </p:txBody>
      </p:sp>
      <p:sp>
        <p:nvSpPr>
          <p:cNvPr id="8" name="an4 Label"/>
          <p:cNvSpPr txBox="1"/>
          <p:nvPr/>
        </p:nvSpPr>
        <p:spPr>
          <a:xfrm>
            <a:off x="640080" y="3794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besser</a:t>
            </a:r>
            <a:endParaRPr lang="en-US" sz="1400" dirty="0"/>
          </a:p>
        </p:txBody>
      </p:sp>
      <p:sp>
        <p:nvSpPr>
          <p:cNvPr id="9" name="an4 Box"/>
          <p:cNvSpPr/>
          <p:nvPr/>
        </p:nvSpPr>
        <p:spPr>
          <a:xfrm>
            <a:off x="640080" y="4206240"/>
            <a:ext cx="5120640" cy="1783080"/>
          </a:xfrm>
          <a:prstGeom prst="roundRect">
            <a:avLst>
              <a:gd name="adj" fmla="val 6154"/>
            </a:avLst>
          </a:prstGeom>
          <a:solidFill>
            <a:srgbClr val="11373A"/>
          </a:solidFill>
          <a:ln w="12700">
            <a:solidFill>
              <a:srgbClr val="11373A"/>
            </a:solidFill>
            <a:prstDash val="solid"/>
          </a:ln>
        </p:spPr>
      </p:sp>
      <p:sp>
        <p:nvSpPr>
          <p:cNvPr id="10" name="an4 Prompt"/>
          <p:cNvSpPr txBox="1"/>
          <p:nvPr/>
        </p:nvSpPr>
        <p:spPr>
          <a:xfrm>
            <a:off x="914400" y="4206240"/>
            <a:ext cx="4572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bist mein Lernhelfer. Erkläre mir einfach und in 5 Sätzen, wie Photosynthese funktioniert. Gib am Ende ein Beispiel aus dem Alltag.</a:t>
            </a:r>
            <a:endParaRPr lang="en-US" sz="1700" dirty="0"/>
          </a:p>
        </p:txBody>
      </p:sp>
      <p:sp>
        <p:nvSpPr>
          <p:cNvPr id="11" name="an5 Hinweis"/>
          <p:cNvSpPr txBox="1"/>
          <p:nvPr/>
        </p:nvSpPr>
        <p:spPr>
          <a:xfrm>
            <a:off x="640080" y="6080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</a:t>
            </a:r>
            <a:endParaRPr lang="en-US" sz="1400" dirty="0"/>
          </a:p>
        </p:txBody>
      </p:sp>
      <p:sp>
        <p:nvSpPr>
          <p:cNvPr id="12" name="an3 Überschrift"/>
          <p:cNvSpPr txBox="1"/>
          <p:nvPr/>
        </p:nvSpPr>
        <p:spPr>
          <a:xfrm>
            <a:off x="6583680" y="1783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geht ein guter Prompt</a:t>
            </a:r>
            <a:endParaRPr lang="en-US" sz="2400" dirty="0"/>
          </a:p>
        </p:txBody>
      </p:sp>
      <p:sp>
        <p:nvSpPr>
          <p:cNvPr id="13" name="an4 Punkt"/>
          <p:cNvSpPr txBox="1"/>
          <p:nvPr/>
        </p:nvSpPr>
        <p:spPr>
          <a:xfrm>
            <a:off x="6583680" y="2468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 geben</a:t>
            </a:r>
            <a:endParaRPr lang="en-US" sz="1900" dirty="0"/>
          </a:p>
        </p:txBody>
      </p:sp>
      <p:sp>
        <p:nvSpPr>
          <p:cNvPr id="14" name="an4 Detail"/>
          <p:cNvSpPr txBox="1"/>
          <p:nvPr/>
        </p:nvSpPr>
        <p:spPr>
          <a:xfrm>
            <a:off x="6583680" y="28072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„Du bist mein Lernhelfer …“</a:t>
            </a:r>
            <a:endParaRPr lang="en-US" sz="1500" dirty="0"/>
          </a:p>
        </p:txBody>
      </p:sp>
      <p:sp>
        <p:nvSpPr>
          <p:cNvPr id="15" name="an5 Punkt"/>
          <p:cNvSpPr txBox="1"/>
          <p:nvPr/>
        </p:nvSpPr>
        <p:spPr>
          <a:xfrm>
            <a:off x="6583680" y="323697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 klar sagen</a:t>
            </a:r>
            <a:endParaRPr lang="en-US" sz="1900" dirty="0"/>
          </a:p>
        </p:txBody>
      </p:sp>
      <p:sp>
        <p:nvSpPr>
          <p:cNvPr id="16" name="an5 Detail"/>
          <p:cNvSpPr txBox="1"/>
          <p:nvPr/>
        </p:nvSpPr>
        <p:spPr>
          <a:xfrm>
            <a:off x="6583680" y="357530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genau will ich wissen?</a:t>
            </a:r>
            <a:endParaRPr lang="en-US" sz="1500" dirty="0"/>
          </a:p>
        </p:txBody>
      </p:sp>
      <p:sp>
        <p:nvSpPr>
          <p:cNvPr id="17" name="an6 Punkt"/>
          <p:cNvSpPr txBox="1"/>
          <p:nvPr/>
        </p:nvSpPr>
        <p:spPr>
          <a:xfrm>
            <a:off x="6583680" y="40050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Kontext nennen</a:t>
            </a:r>
            <a:endParaRPr lang="en-US" sz="1900" dirty="0"/>
          </a:p>
        </p:txBody>
      </p:sp>
      <p:sp>
        <p:nvSpPr>
          <p:cNvPr id="18" name="an6 Detail"/>
          <p:cNvSpPr txBox="1"/>
          <p:nvPr/>
        </p:nvSpPr>
        <p:spPr>
          <a:xfrm>
            <a:off x="6583680" y="4343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Thema, Fach, wofür ich es brauche</a:t>
            </a:r>
            <a:endParaRPr lang="en-US" sz="1500" dirty="0"/>
          </a:p>
        </p:txBody>
      </p:sp>
      <p:sp>
        <p:nvSpPr>
          <p:cNvPr id="19" name="an7 Punkt"/>
          <p:cNvSpPr txBox="1"/>
          <p:nvPr/>
        </p:nvSpPr>
        <p:spPr>
          <a:xfrm>
            <a:off x="6583680" y="47731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wünschen</a:t>
            </a:r>
            <a:endParaRPr lang="en-US" sz="1900" dirty="0"/>
          </a:p>
        </p:txBody>
      </p:sp>
      <p:sp>
        <p:nvSpPr>
          <p:cNvPr id="20" name="an7 Detail"/>
          <p:cNvSpPr txBox="1"/>
          <p:nvPr/>
        </p:nvSpPr>
        <p:spPr>
          <a:xfrm>
            <a:off x="6583680" y="511149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Liste, 5 Sätze, Tabelle …</a:t>
            </a:r>
            <a:endParaRPr lang="en-US" sz="1500" dirty="0"/>
          </a:p>
        </p:txBody>
      </p:sp>
      <p:sp>
        <p:nvSpPr>
          <p:cNvPr id="21" name="an8 Punkt"/>
          <p:cNvSpPr txBox="1"/>
          <p:nvPr/>
        </p:nvSpPr>
        <p:spPr>
          <a:xfrm>
            <a:off x="6583680" y="554126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Nachfragen</a:t>
            </a:r>
            <a:endParaRPr lang="en-US" sz="1900" dirty="0"/>
          </a:p>
        </p:txBody>
      </p:sp>
      <p:sp>
        <p:nvSpPr>
          <p:cNvPr id="22" name="an8 Detail"/>
          <p:cNvSpPr txBox="1"/>
          <p:nvPr/>
        </p:nvSpPr>
        <p:spPr>
          <a:xfrm>
            <a:off x="6583680" y="58795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Antwort prüfen und verbessern lassen</a:t>
            </a:r>
            <a:endParaRPr lang="en-US" sz="15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10771632" y="384048"/>
              <a:ext cx="640080" cy="749808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640080" cy="749808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60000" ay="2880000" az="-36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10075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771632" y="384048"/>
                <a:ext cx="64008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11448288" y="384048"/>
              <a:ext cx="320040" cy="749808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320040" cy="749808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840000" ay="-2760000" az="30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8021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11448288" y="384048"/>
                <a:ext cx="32004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magnifier" descr="3D-Modell magnifier"/>
              <p:cNvGraphicFramePr>
                <a:graphicFrameLocks noChangeAspect="1"/>
              </p:cNvGraphicFramePr>
              <p:nvPr/>
            </p:nvGraphicFramePr>
            <p:xfrm>
              <a:off x="12893040" y="4497265"/>
              <a:ext cx="1978269" cy="1978269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1978269" cy="1978269"/>
                    </a:xfrm>
                    <a:prstGeom prst="rect">
                      <a:avLst/>
                    </a:prstGeom>
                  </am3d:spPr>
                  <am3d:camera>
                    <am3d:pos x="0" y="0" z="6699576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34783" d="1000000"/>
                    <am3d:preTrans dx="-5165217" dy="5165217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-168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17373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magnifier" descr="3D-Modell magnifier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2893040" y="4497265"/>
                <a:ext cx="1978269" cy="19782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4" name="!!m_stop" descr="3D-Modell stop"/>
              <p:cNvGraphicFramePr>
                <a:graphicFrameLocks noChangeAspect="1"/>
              </p:cNvGraphicFramePr>
              <p:nvPr/>
            </p:nvGraphicFramePr>
            <p:xfrm>
              <a:off x="-4765232" y="863504"/>
              <a:ext cx="4399472" cy="4399472"/>
            </p:xfrm>
            <a:graphic>
              <a:graphicData uri="http://schemas.microsoft.com/office/drawing/2017/model3d">
                <am3d:model3d r:embed="rId106">
                  <am3d:spPr>
                    <a:xfrm>
                      <a:off x="0" y="0"/>
                      <a:ext cx="4399472" cy="4399472"/>
                    </a:xfrm>
                    <a:prstGeom prst="rect">
                      <a:avLst/>
                    </a:prstGeom>
                  </am3d:spPr>
                  <am3d:camera>
                    <am3d:pos x="0" y="0" z="6665994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4119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1440000"/>
                    <am3d:postTrans dx="0" dy="0" dz="0"/>
                  </am3d:trans>
                  <am3d:raster rName="Office3DRenderer" rVer="16.0.8326">
                    <am3d:blip r:embed="rId107"/>
                  </am3d:raster>
                  <am3d:objViewport viewportSz="21945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4" name="!!m_stop" descr="3D-Modell stop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-4765232" y="863504"/>
                <a:ext cx="4399472" cy="43994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5" name="!!m_car" descr="3D-Modell car"/>
              <p:cNvGraphicFramePr>
                <a:graphicFrameLocks noChangeAspect="1"/>
              </p:cNvGraphicFramePr>
              <p:nvPr/>
            </p:nvGraphicFramePr>
            <p:xfrm>
              <a:off x="-2355646" y="4538835"/>
              <a:ext cx="1989886" cy="1989886"/>
            </p:xfrm>
            <a:graphic>
              <a:graphicData uri="http://schemas.microsoft.com/office/drawing/2017/model3d">
                <am3d:model3d r:embed="rId108">
                  <am3d:spPr>
                    <a:xfrm>
                      <a:off x="0" y="0"/>
                      <a:ext cx="1989886" cy="1989886"/>
                    </a:xfrm>
                    <a:prstGeom prst="rect">
                      <a:avLst/>
                    </a:prstGeom>
                  </am3d:spPr>
                  <am3d:camera>
                    <am3d:pos x="0" y="0" z="5050541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7194" d="1000000"/>
                    <am3d:preTrans dx="43035" dy="104969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20000" ay="-1440000"/>
                    <am3d:postTrans dx="0" dy="0" dz="0"/>
                  </am3d:trans>
                  <am3d:raster rName="Office3DRenderer" rVer="16.0.8326">
                    <am3d:blip r:embed="rId109"/>
                  </am3d:raster>
                  <am3d:objViewport viewportSz="31089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5" name="!!m_car" descr="3D-Modell car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-2355646" y="4538835"/>
                <a:ext cx="1989886" cy="1989886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8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 animBg="1"/>
      <p:bldP spid="6" grpId="0"/>
      <p:bldP spid="7" grpId="0"/>
      <p:bldP spid="8" grpId="0"/>
      <p:bldP spid="9" grpId="0" animBg="1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1 Eyebrow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NICHT ALLES GLAUBEN</a:t>
            </a:r>
            <a:endParaRPr lang="en-US" sz="1300" dirty="0"/>
          </a:p>
        </p:txBody>
      </p:sp>
      <p:sp>
        <p:nvSpPr>
          <p:cNvPr id="3" name="an1 Titel"/>
          <p:cNvSpPr txBox="1"/>
          <p:nvPr/>
        </p:nvSpPr>
        <p:spPr>
          <a:xfrm>
            <a:off x="640080" y="777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Faktencheck</a:t>
            </a:r>
            <a:endParaRPr lang="en-US" sz="4000" dirty="0"/>
          </a:p>
        </p:txBody>
      </p:sp>
      <p:sp>
        <p:nvSpPr>
          <p:cNvPr id="4" name="an2 Aussage"/>
          <p:cNvSpPr txBox="1"/>
          <p:nvPr/>
        </p:nvSpPr>
        <p:spPr>
          <a:xfrm>
            <a:off x="640080" y="201168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 kann sich irren.</a:t>
            </a:r>
            <a:endParaRPr lang="en-US" sz="4400" dirty="0"/>
          </a:p>
        </p:txBody>
      </p:sp>
      <p:sp>
        <p:nvSpPr>
          <p:cNvPr id="5" name="an3 Text"/>
          <p:cNvSpPr txBox="1"/>
          <p:nvPr/>
        </p:nvSpPr>
        <p:spPr>
          <a:xfrm>
            <a:off x="640080" y="365760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 erfindet manchmal Fakten, Zahlen oder Quellen, die echt klingen. Das nennt man „Halluzinieren“.</a:t>
            </a:r>
            <a:endParaRPr lang="en-US" sz="2000" dirty="0"/>
          </a:p>
        </p:txBody>
      </p:sp>
      <p:sp>
        <p:nvSpPr>
          <p:cNvPr id="6" name="an4 Karte"/>
          <p:cNvSpPr/>
          <p:nvPr/>
        </p:nvSpPr>
        <p:spPr>
          <a:xfrm>
            <a:off x="6583680" y="1828800"/>
            <a:ext cx="4937760" cy="1280160"/>
          </a:xfrm>
          <a:prstGeom prst="roundRect">
            <a:avLst>
              <a:gd name="adj" fmla="val 8571"/>
            </a:avLst>
          </a:prstGeom>
          <a:solidFill>
            <a:srgbClr val="161E45"/>
          </a:solidFill>
          <a:ln w="12700">
            <a:solidFill>
              <a:srgbClr val="161E45"/>
            </a:solidFill>
            <a:prstDash val="solid"/>
          </a:ln>
        </p:spPr>
      </p:sp>
      <p:sp>
        <p:nvSpPr>
          <p:cNvPr id="7" name="an4 Titel"/>
          <p:cNvSpPr txBox="1"/>
          <p:nvPr/>
        </p:nvSpPr>
        <p:spPr>
          <a:xfrm>
            <a:off x="6858000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Quellen prüfen</a:t>
            </a:r>
            <a:endParaRPr lang="en-US" sz="2100" dirty="0"/>
          </a:p>
        </p:txBody>
      </p:sp>
      <p:sp>
        <p:nvSpPr>
          <p:cNvPr id="8" name="an4 Text"/>
          <p:cNvSpPr txBox="1"/>
          <p:nvPr/>
        </p:nvSpPr>
        <p:spPr>
          <a:xfrm>
            <a:off x="6858000" y="242316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Woher kommt die Info? Gibt es eine seriöse Quelle dazu?</a:t>
            </a:r>
            <a:endParaRPr lang="en-US" sz="1600" dirty="0"/>
          </a:p>
        </p:txBody>
      </p:sp>
      <p:sp>
        <p:nvSpPr>
          <p:cNvPr id="9" name="an5 Karte"/>
          <p:cNvSpPr/>
          <p:nvPr/>
        </p:nvSpPr>
        <p:spPr>
          <a:xfrm>
            <a:off x="6583680" y="3291840"/>
            <a:ext cx="4937760" cy="1280160"/>
          </a:xfrm>
          <a:prstGeom prst="roundRect">
            <a:avLst>
              <a:gd name="adj" fmla="val 8571"/>
            </a:avLst>
          </a:prstGeom>
          <a:solidFill>
            <a:srgbClr val="161E45"/>
          </a:solidFill>
          <a:ln w="12700">
            <a:solidFill>
              <a:srgbClr val="161E45"/>
            </a:solidFill>
            <a:prstDash val="solid"/>
          </a:ln>
        </p:spPr>
      </p:sp>
      <p:sp>
        <p:nvSpPr>
          <p:cNvPr id="10" name="an5 Titel"/>
          <p:cNvSpPr txBox="1"/>
          <p:nvPr/>
        </p:nvSpPr>
        <p:spPr>
          <a:xfrm>
            <a:off x="6858000" y="3474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Vergleichen</a:t>
            </a:r>
            <a:endParaRPr lang="en-US" sz="2100" dirty="0"/>
          </a:p>
        </p:txBody>
      </p:sp>
      <p:sp>
        <p:nvSpPr>
          <p:cNvPr id="11" name="an5 Text"/>
          <p:cNvSpPr txBox="1"/>
          <p:nvPr/>
        </p:nvSpPr>
        <p:spPr>
          <a:xfrm>
            <a:off x="6858000" y="388620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Schulbuch, Lexikon oder einer zweiten Webseite abgleichen.</a:t>
            </a:r>
            <a:endParaRPr lang="en-US" sz="1600" dirty="0"/>
          </a:p>
        </p:txBody>
      </p:sp>
      <p:sp>
        <p:nvSpPr>
          <p:cNvPr id="12" name="an6 Karte"/>
          <p:cNvSpPr/>
          <p:nvPr/>
        </p:nvSpPr>
        <p:spPr>
          <a:xfrm>
            <a:off x="6583680" y="4754880"/>
            <a:ext cx="4937760" cy="1280160"/>
          </a:xfrm>
          <a:prstGeom prst="roundRect">
            <a:avLst>
              <a:gd name="adj" fmla="val 8571"/>
            </a:avLst>
          </a:prstGeom>
          <a:solidFill>
            <a:srgbClr val="161E45"/>
          </a:solidFill>
          <a:ln w="12700">
            <a:solidFill>
              <a:srgbClr val="161E45"/>
            </a:solidFill>
            <a:prstDash val="solid"/>
          </a:ln>
        </p:spPr>
      </p:sp>
      <p:sp>
        <p:nvSpPr>
          <p:cNvPr id="13" name="an6 Titel"/>
          <p:cNvSpPr txBox="1"/>
          <p:nvPr/>
        </p:nvSpPr>
        <p:spPr>
          <a:xfrm>
            <a:off x="6858000" y="4937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Selbst mitdenken</a:t>
            </a:r>
            <a:endParaRPr lang="en-US" sz="2100" dirty="0"/>
          </a:p>
        </p:txBody>
      </p:sp>
      <p:sp>
        <p:nvSpPr>
          <p:cNvPr id="14" name="an6 Text"/>
          <p:cNvSpPr txBox="1"/>
          <p:nvPr/>
        </p:nvSpPr>
        <p:spPr>
          <a:xfrm>
            <a:off x="6858000" y="534924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Klingt das logisch? Im Zweifel die Lehrkraft fragen.</a:t>
            </a:r>
            <a:endParaRPr lang="en-US" sz="16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10771632" y="384048"/>
              <a:ext cx="640080" cy="749808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640080" cy="749808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60000" ay="2880000" az="-36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10075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771632" y="384048"/>
                <a:ext cx="64008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11448288" y="384048"/>
              <a:ext cx="320040" cy="749808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320040" cy="749808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840000" ay="-2760000" az="30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8021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11448288" y="384048"/>
                <a:ext cx="32004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magnifier" descr="3D-Modell magnifier"/>
              <p:cNvGraphicFramePr>
                <a:graphicFrameLocks noChangeAspect="1"/>
              </p:cNvGraphicFramePr>
              <p:nvPr/>
            </p:nvGraphicFramePr>
            <p:xfrm>
              <a:off x="367628" y="4497265"/>
              <a:ext cx="1978269" cy="1978269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1978269" cy="1978269"/>
                    </a:xfrm>
                    <a:prstGeom prst="rect">
                      <a:avLst/>
                    </a:prstGeom>
                  </am3d:spPr>
                  <am3d:camera>
                    <am3d:pos x="0" y="0" z="6699576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34783" d="1000000"/>
                    <am3d:preTrans dx="-5165217" dy="5165217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-168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17373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magnifier" descr="3D-Modell magnifier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367628" y="4497265"/>
                <a:ext cx="1978269" cy="1978269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8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8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8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 animBg="1"/>
      <p:bldP spid="7" grpId="0"/>
      <p:bldP spid="8" grpId="0"/>
      <p:bldP spid="9" grpId="0" animBg="1"/>
      <p:bldP spid="10" grpId="0"/>
      <p:bldP spid="11" grpId="0"/>
      <p:bldP spid="12" grpId="0" animBg="1"/>
      <p:bldP spid="13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1 Eyebrow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FAIR BLEIBEN</a:t>
            </a:r>
            <a:endParaRPr lang="en-US" sz="1300" dirty="0"/>
          </a:p>
        </p:txBody>
      </p:sp>
      <p:sp>
        <p:nvSpPr>
          <p:cNvPr id="3" name="an1 Titel"/>
          <p:cNvSpPr txBox="1"/>
          <p:nvPr/>
        </p:nvSpPr>
        <p:spPr>
          <a:xfrm>
            <a:off x="640080" y="777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Urheberrecht und Datenschutz</a:t>
            </a:r>
            <a:endParaRPr lang="en-US" sz="4000" dirty="0"/>
          </a:p>
        </p:txBody>
      </p:sp>
      <p:pic>
        <p:nvPicPr>
          <p:cNvPr id="4" name="an2 Icon" descr="/tmp/claude-0/-home-user-Thanos-ki/67e4cb18-13b6-593b-bbd8-624b7d1d5777/scratchpad/orig/ppt/media/image5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731520" cy="731520"/>
          </a:xfrm>
          <a:prstGeom prst="rect">
            <a:avLst/>
          </a:prstGeom>
        </p:spPr>
      </p:pic>
      <p:sp>
        <p:nvSpPr>
          <p:cNvPr id="5" name="an2 Frage"/>
          <p:cNvSpPr txBox="1"/>
          <p:nvPr/>
        </p:nvSpPr>
        <p:spPr>
          <a:xfrm>
            <a:off x="640080" y="29260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Woher stammen die Informationen?</a:t>
            </a:r>
            <a:endParaRPr lang="en-US" sz="2200" dirty="0"/>
          </a:p>
        </p:txBody>
      </p:sp>
      <p:sp>
        <p:nvSpPr>
          <p:cNvPr id="6" name="an2 Text"/>
          <p:cNvSpPr txBox="1"/>
          <p:nvPr/>
        </p:nvSpPr>
        <p:spPr>
          <a:xfrm>
            <a:off x="640080" y="411480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Auch eine KI-Paraphrase ersetzt keine Quellenangabe. Ich gebe an, woher meine Infos stammen.</a:t>
            </a:r>
            <a:endParaRPr lang="en-US" sz="1700" dirty="0"/>
          </a:p>
        </p:txBody>
      </p:sp>
      <p:pic>
        <p:nvPicPr>
          <p:cNvPr id="7" name="an3 Icon" descr="/tmp/claude-0/-home-user-Thanos-ki/67e4cb18-13b6-593b-bbd8-624b7d1d5777/scratchpad/orig/ppt/media/image5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920240"/>
            <a:ext cx="731520" cy="731520"/>
          </a:xfrm>
          <a:prstGeom prst="rect">
            <a:avLst/>
          </a:prstGeom>
        </p:spPr>
      </p:pic>
      <p:sp>
        <p:nvSpPr>
          <p:cNvPr id="8" name="an3 Frage"/>
          <p:cNvSpPr txBox="1"/>
          <p:nvPr/>
        </p:nvSpPr>
        <p:spPr>
          <a:xfrm>
            <a:off x="4389120" y="29260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habe ich tatsächlich selbst gemacht?</a:t>
            </a:r>
            <a:endParaRPr lang="en-US" sz="2200" dirty="0"/>
          </a:p>
        </p:txBody>
      </p:sp>
      <p:sp>
        <p:nvSpPr>
          <p:cNvPr id="9" name="an3 Text"/>
          <p:cNvSpPr txBox="1"/>
          <p:nvPr/>
        </p:nvSpPr>
        <p:spPr>
          <a:xfrm>
            <a:off x="4389120" y="411480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stärker die KI am fertigen Produkt beteiligt war, desto wichtiger ist eine transparente Kennzeichnung.</a:t>
            </a:r>
            <a:endParaRPr lang="en-US" sz="1700" dirty="0"/>
          </a:p>
        </p:txBody>
      </p:sp>
      <p:pic>
        <p:nvPicPr>
          <p:cNvPr id="10" name="an4 Icon" descr="/tmp/claude-0/-home-user-Thanos-ki/67e4cb18-13b6-593b-bbd8-624b7d1d5777/scratchpad/orig/ppt/media/image5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920240"/>
            <a:ext cx="731520" cy="731520"/>
          </a:xfrm>
          <a:prstGeom prst="rect">
            <a:avLst/>
          </a:prstGeom>
        </p:spPr>
      </p:pic>
      <p:sp>
        <p:nvSpPr>
          <p:cNvPr id="11" name="an4 Frage"/>
          <p:cNvSpPr txBox="1"/>
          <p:nvPr/>
        </p:nvSpPr>
        <p:spPr>
          <a:xfrm>
            <a:off x="8138160" y="29260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gebe ich der KI preis?</a:t>
            </a:r>
            <a:endParaRPr lang="en-US" sz="2200" dirty="0"/>
          </a:p>
        </p:txBody>
      </p:sp>
      <p:sp>
        <p:nvSpPr>
          <p:cNvPr id="12" name="an4 Text"/>
          <p:cNvSpPr txBox="1"/>
          <p:nvPr/>
        </p:nvSpPr>
        <p:spPr>
          <a:xfrm>
            <a:off x="8138160" y="411480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Namen, Adressen, Fotos oder Passwörter eingeben – Eingaben können gespeichert werden.</a:t>
            </a:r>
            <a:endParaRPr lang="en-US" sz="17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10771632" y="384048"/>
              <a:ext cx="640080" cy="749808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640080" cy="749808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60000" ay="2880000" az="-36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10075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771632" y="384048"/>
                <a:ext cx="64008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11448288" y="384048"/>
              <a:ext cx="320040" cy="749808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320040" cy="749808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840000" ay="-2760000" az="30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8021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11448288" y="384048"/>
                <a:ext cx="32004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magnifier" descr="3D-Modell magnifier"/>
              <p:cNvGraphicFramePr>
                <a:graphicFrameLocks noChangeAspect="1"/>
              </p:cNvGraphicFramePr>
              <p:nvPr/>
            </p:nvGraphicFramePr>
            <p:xfrm>
              <a:off x="-2344029" y="4497265"/>
              <a:ext cx="1978269" cy="1978269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1978269" cy="1978269"/>
                    </a:xfrm>
                    <a:prstGeom prst="rect">
                      <a:avLst/>
                    </a:prstGeom>
                  </am3d:spPr>
                  <am3d:camera>
                    <am3d:pos x="0" y="0" z="6699576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34783" d="1000000"/>
                    <am3d:preTrans dx="-5165217" dy="5165217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-168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17373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magnifier" descr="3D-Modell magnifier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-2344029" y="4497265"/>
                <a:ext cx="1978269" cy="1978269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8" grpId="0"/>
      <p:bldP spid="9" grpId="0"/>
      <p:bldP spid="11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1 Eyebrow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UM UNS HERUM</a:t>
            </a:r>
            <a:endParaRPr lang="en-US" sz="1300" dirty="0"/>
          </a:p>
        </p:txBody>
      </p:sp>
      <p:sp>
        <p:nvSpPr>
          <p:cNvPr id="3" name="an1 Titel"/>
          <p:cNvSpPr txBox="1"/>
          <p:nvPr/>
        </p:nvSpPr>
        <p:spPr>
          <a:xfrm>
            <a:off x="640080" y="777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 im Alltag</a:t>
            </a:r>
            <a:endParaRPr lang="en-US" sz="4000" dirty="0"/>
          </a:p>
        </p:txBody>
      </p:sp>
      <p:sp>
        <p:nvSpPr>
          <p:cNvPr id="4" name="an2 Überschrift"/>
          <p:cNvSpPr txBox="1"/>
          <p:nvPr/>
        </p:nvSpPr>
        <p:spPr>
          <a:xfrm>
            <a:off x="64008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Dafür nutzen wir KI</a:t>
            </a:r>
            <a:endParaRPr lang="en-US" sz="2200" dirty="0"/>
          </a:p>
        </p:txBody>
      </p:sp>
      <p:pic>
        <p:nvPicPr>
          <p:cNvPr id="5" name="an2 Foto" descr="/tmp/claude-0/-home-user-Thanos-ki/67e4cb18-13b6-593b-bbd8-624b7d1d5777/scratchpad/orig/ppt/media/image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31720"/>
            <a:ext cx="5120640" cy="2880360"/>
          </a:xfrm>
          <a:prstGeom prst="rect">
            <a:avLst/>
          </a:prstGeom>
        </p:spPr>
      </p:pic>
      <p:sp>
        <p:nvSpPr>
          <p:cNvPr id="6" name="an3 Nutzung 1"/>
          <p:cNvSpPr txBox="1"/>
          <p:nvPr/>
        </p:nvSpPr>
        <p:spPr>
          <a:xfrm>
            <a:off x="640080" y="5440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Normale Fragen beantworten</a:t>
            </a:r>
            <a:endParaRPr lang="en-US" sz="1900" dirty="0"/>
          </a:p>
        </p:txBody>
      </p:sp>
      <p:sp>
        <p:nvSpPr>
          <p:cNvPr id="7" name="an4 Nutzung 2"/>
          <p:cNvSpPr txBox="1"/>
          <p:nvPr/>
        </p:nvSpPr>
        <p:spPr>
          <a:xfrm>
            <a:off x="640080" y="5852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Übersetzer</a:t>
            </a:r>
            <a:endParaRPr lang="en-US" sz="1900" dirty="0"/>
          </a:p>
        </p:txBody>
      </p:sp>
      <p:sp>
        <p:nvSpPr>
          <p:cNvPr id="8" name="an5 Überschrift"/>
          <p:cNvSpPr txBox="1"/>
          <p:nvPr/>
        </p:nvSpPr>
        <p:spPr>
          <a:xfrm>
            <a:off x="658368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braucht KI</a:t>
            </a:r>
            <a:endParaRPr lang="en-US" sz="2200" dirty="0"/>
          </a:p>
        </p:txBody>
      </p:sp>
      <p:sp>
        <p:nvSpPr>
          <p:cNvPr id="9" name="an6 Kachel"/>
          <p:cNvSpPr/>
          <p:nvPr/>
        </p:nvSpPr>
        <p:spPr>
          <a:xfrm>
            <a:off x="6583680" y="2331720"/>
            <a:ext cx="2377440" cy="1143000"/>
          </a:xfrm>
          <a:prstGeom prst="roundRect">
            <a:avLst>
              <a:gd name="adj" fmla="val 9600"/>
            </a:avLst>
          </a:prstGeom>
          <a:solidFill>
            <a:srgbClr val="161E45"/>
          </a:solidFill>
          <a:ln w="12700">
            <a:solidFill>
              <a:srgbClr val="161E45"/>
            </a:solidFill>
            <a:prstDash val="solid"/>
          </a:ln>
        </p:spPr>
      </p:sp>
      <p:pic>
        <p:nvPicPr>
          <p:cNvPr id="10" name="an6 Icon" descr="/tmp/claude-0/-home-user-Thanos-ki/67e4cb18-13b6-593b-bbd8-624b7d1d5777/scratchpad/orig/ppt/media/image5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2606040"/>
            <a:ext cx="594360" cy="594360"/>
          </a:xfrm>
          <a:prstGeom prst="rect">
            <a:avLst/>
          </a:prstGeom>
        </p:spPr>
      </p:pic>
      <p:sp>
        <p:nvSpPr>
          <p:cNvPr id="11" name="an6 Text"/>
          <p:cNvSpPr txBox="1"/>
          <p:nvPr/>
        </p:nvSpPr>
        <p:spPr>
          <a:xfrm>
            <a:off x="7498080" y="233172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Strom</a:t>
            </a:r>
            <a:endParaRPr lang="en-US" sz="1500" dirty="0"/>
          </a:p>
        </p:txBody>
      </p:sp>
      <p:sp>
        <p:nvSpPr>
          <p:cNvPr id="12" name="an7 Kachel"/>
          <p:cNvSpPr/>
          <p:nvPr/>
        </p:nvSpPr>
        <p:spPr>
          <a:xfrm>
            <a:off x="9144000" y="2331720"/>
            <a:ext cx="2377440" cy="1143000"/>
          </a:xfrm>
          <a:prstGeom prst="roundRect">
            <a:avLst>
              <a:gd name="adj" fmla="val 9600"/>
            </a:avLst>
          </a:prstGeom>
          <a:solidFill>
            <a:srgbClr val="161E45"/>
          </a:solidFill>
          <a:ln w="12700">
            <a:solidFill>
              <a:srgbClr val="161E45"/>
            </a:solidFill>
            <a:prstDash val="solid"/>
          </a:ln>
        </p:spPr>
      </p:sp>
      <p:pic>
        <p:nvPicPr>
          <p:cNvPr id="13" name="an7 Icon" descr="/tmp/claude-0/-home-user-Thanos-ki/67e4cb18-13b6-593b-bbd8-624b7d1d5777/scratchpad/orig/ppt/media/image5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0" y="2606040"/>
            <a:ext cx="594360" cy="594360"/>
          </a:xfrm>
          <a:prstGeom prst="rect">
            <a:avLst/>
          </a:prstGeom>
        </p:spPr>
      </p:pic>
      <p:sp>
        <p:nvSpPr>
          <p:cNvPr id="14" name="an7 Text"/>
          <p:cNvSpPr txBox="1"/>
          <p:nvPr/>
        </p:nvSpPr>
        <p:spPr>
          <a:xfrm>
            <a:off x="10058400" y="233172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</a:t>
            </a:r>
            <a:endParaRPr lang="en-US" sz="1500" dirty="0"/>
          </a:p>
        </p:txBody>
      </p:sp>
      <p:sp>
        <p:nvSpPr>
          <p:cNvPr id="15" name="an8 Kachel"/>
          <p:cNvSpPr/>
          <p:nvPr/>
        </p:nvSpPr>
        <p:spPr>
          <a:xfrm>
            <a:off x="6583680" y="3657600"/>
            <a:ext cx="2377440" cy="1143000"/>
          </a:xfrm>
          <a:prstGeom prst="roundRect">
            <a:avLst>
              <a:gd name="adj" fmla="val 9600"/>
            </a:avLst>
          </a:prstGeom>
          <a:solidFill>
            <a:srgbClr val="161E45"/>
          </a:solidFill>
          <a:ln w="12700">
            <a:solidFill>
              <a:srgbClr val="161E45"/>
            </a:solidFill>
            <a:prstDash val="solid"/>
          </a:ln>
        </p:spPr>
      </p:sp>
      <p:pic>
        <p:nvPicPr>
          <p:cNvPr id="16" name="an8 Icon" descr="/tmp/claude-0/-home-user-Thanos-ki/67e4cb18-13b6-593b-bbd8-624b7d1d5777/scratchpad/orig/ppt/media/image5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3931920"/>
            <a:ext cx="594360" cy="594360"/>
          </a:xfrm>
          <a:prstGeom prst="rect">
            <a:avLst/>
          </a:prstGeom>
        </p:spPr>
      </p:pic>
      <p:sp>
        <p:nvSpPr>
          <p:cNvPr id="17" name="an8 Text"/>
          <p:cNvSpPr txBox="1"/>
          <p:nvPr/>
        </p:nvSpPr>
        <p:spPr>
          <a:xfrm>
            <a:off x="7498080" y="365760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Chips</a:t>
            </a:r>
            <a:endParaRPr lang="en-US" sz="1500" dirty="0"/>
          </a:p>
        </p:txBody>
      </p:sp>
      <p:sp>
        <p:nvSpPr>
          <p:cNvPr id="18" name="an9 Kachel"/>
          <p:cNvSpPr/>
          <p:nvPr/>
        </p:nvSpPr>
        <p:spPr>
          <a:xfrm>
            <a:off x="9144000" y="3657600"/>
            <a:ext cx="2377440" cy="1143000"/>
          </a:xfrm>
          <a:prstGeom prst="roundRect">
            <a:avLst>
              <a:gd name="adj" fmla="val 9600"/>
            </a:avLst>
          </a:prstGeom>
          <a:solidFill>
            <a:srgbClr val="161E45"/>
          </a:solidFill>
          <a:ln w="12700">
            <a:solidFill>
              <a:srgbClr val="161E45"/>
            </a:solidFill>
            <a:prstDash val="solid"/>
          </a:ln>
        </p:spPr>
      </p:sp>
      <p:pic>
        <p:nvPicPr>
          <p:cNvPr id="19" name="an9 Icon" descr="/tmp/claude-0/-home-user-Thanos-ki/67e4cb18-13b6-593b-bbd8-624b7d1d5777/scratchpad/orig/ppt/media/image58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0" y="3931920"/>
            <a:ext cx="594360" cy="594360"/>
          </a:xfrm>
          <a:prstGeom prst="rect">
            <a:avLst/>
          </a:prstGeom>
        </p:spPr>
      </p:pic>
      <p:sp>
        <p:nvSpPr>
          <p:cNvPr id="20" name="an9 Text"/>
          <p:cNvSpPr txBox="1"/>
          <p:nvPr/>
        </p:nvSpPr>
        <p:spPr>
          <a:xfrm>
            <a:off x="10058400" y="365760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Rechenzentren</a:t>
            </a:r>
            <a:endParaRPr lang="en-US" sz="1500" dirty="0"/>
          </a:p>
        </p:txBody>
      </p:sp>
      <p:sp>
        <p:nvSpPr>
          <p:cNvPr id="21" name="an10 Kachel"/>
          <p:cNvSpPr/>
          <p:nvPr/>
        </p:nvSpPr>
        <p:spPr>
          <a:xfrm>
            <a:off x="6583680" y="4983480"/>
            <a:ext cx="2377440" cy="1143000"/>
          </a:xfrm>
          <a:prstGeom prst="roundRect">
            <a:avLst>
              <a:gd name="adj" fmla="val 9600"/>
            </a:avLst>
          </a:prstGeom>
          <a:solidFill>
            <a:srgbClr val="161E45"/>
          </a:solidFill>
          <a:ln w="12700">
            <a:solidFill>
              <a:srgbClr val="161E45"/>
            </a:solidFill>
            <a:prstDash val="solid"/>
          </a:ln>
        </p:spPr>
      </p:sp>
      <p:pic>
        <p:nvPicPr>
          <p:cNvPr id="22" name="an10 Icon" descr="/tmp/claude-0/-home-user-Thanos-ki/67e4cb18-13b6-593b-bbd8-624b7d1d5777/scratchpad/orig/ppt/media/image59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2280" y="5257800"/>
            <a:ext cx="594360" cy="594360"/>
          </a:xfrm>
          <a:prstGeom prst="rect">
            <a:avLst/>
          </a:prstGeom>
        </p:spPr>
      </p:pic>
      <p:sp>
        <p:nvSpPr>
          <p:cNvPr id="23" name="an10 Text"/>
          <p:cNvSpPr txBox="1"/>
          <p:nvPr/>
        </p:nvSpPr>
        <p:spPr>
          <a:xfrm>
            <a:off x="7498080" y="498348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Kühlung</a:t>
            </a:r>
            <a:endParaRPr lang="en-US" sz="1500" dirty="0"/>
          </a:p>
        </p:txBody>
      </p:sp>
      <p:sp>
        <p:nvSpPr>
          <p:cNvPr id="24" name="an11 Kachel"/>
          <p:cNvSpPr/>
          <p:nvPr/>
        </p:nvSpPr>
        <p:spPr>
          <a:xfrm>
            <a:off x="9144000" y="4983480"/>
            <a:ext cx="2377440" cy="1143000"/>
          </a:xfrm>
          <a:prstGeom prst="roundRect">
            <a:avLst>
              <a:gd name="adj" fmla="val 9600"/>
            </a:avLst>
          </a:prstGeom>
          <a:solidFill>
            <a:srgbClr val="161E45"/>
          </a:solidFill>
          <a:ln w="12700">
            <a:solidFill>
              <a:srgbClr val="161E45"/>
            </a:solidFill>
            <a:prstDash val="solid"/>
          </a:ln>
        </p:spPr>
      </p:sp>
      <p:pic>
        <p:nvPicPr>
          <p:cNvPr id="25" name="an11 Icon" descr="/tmp/claude-0/-home-user-Thanos-ki/67e4cb18-13b6-593b-bbd8-624b7d1d5777/scratchpad/orig/ppt/media/image60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2600" y="5257800"/>
            <a:ext cx="594360" cy="594360"/>
          </a:xfrm>
          <a:prstGeom prst="rect">
            <a:avLst/>
          </a:prstGeom>
        </p:spPr>
      </p:pic>
      <p:sp>
        <p:nvSpPr>
          <p:cNvPr id="26" name="an11 Text"/>
          <p:cNvSpPr txBox="1"/>
          <p:nvPr/>
        </p:nvSpPr>
        <p:spPr>
          <a:xfrm>
            <a:off x="10058400" y="4983480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</a:t>
            </a:r>
            <a:endParaRPr lang="en-US" sz="15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10771632" y="384048"/>
              <a:ext cx="640080" cy="749808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640080" cy="749808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60000" ay="2880000" az="-36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10075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771632" y="384048"/>
                <a:ext cx="64008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11448288" y="384048"/>
              <a:ext cx="320040" cy="749808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320040" cy="749808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840000" ay="-2760000" az="30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8021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11448288" y="384048"/>
                <a:ext cx="32004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gradcap" descr="3D-Modell gradcap"/>
              <p:cNvGraphicFramePr>
                <a:graphicFrameLocks noChangeAspect="1"/>
              </p:cNvGraphicFramePr>
              <p:nvPr/>
            </p:nvGraphicFramePr>
            <p:xfrm>
              <a:off x="12893040" y="3502207"/>
              <a:ext cx="3324824" cy="3324824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3324824" cy="3324824"/>
                    </a:xfrm>
                    <a:prstGeom prst="rect">
                      <a:avLst/>
                    </a:prstGeom>
                  </am3d:spPr>
                  <am3d:camera>
                    <am3d:pos x="0" y="0" z="6863430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94628" d="1000000"/>
                    <am3d:preTrans dx="0" dy="-10606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680000" ay="-144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48006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gradcap" descr="3D-Modell gradcap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2893040" y="3502207"/>
                <a:ext cx="3324824" cy="3324824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8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8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46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46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/>
      <p:bldP spid="7" grpId="0"/>
      <p:bldP spid="8" grpId="0"/>
      <p:bldP spid="9" grpId="0" animBg="1"/>
      <p:bldP spid="11" grpId="0"/>
      <p:bldP spid="12" grpId="0" animBg="1"/>
      <p:bldP spid="14" grpId="0"/>
      <p:bldP spid="15" grpId="0" animBg="1"/>
      <p:bldP spid="17" grpId="0"/>
      <p:bldP spid="18" grpId="0" animBg="1"/>
      <p:bldP spid="20" grpId="0"/>
      <p:bldP spid="21" grpId="0" animBg="1"/>
      <p:bldP spid="23" grpId="0"/>
      <p:bldP spid="24" grpId="0" animBg="1"/>
      <p:bldP spid="2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1 Eyebrow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FÜR DIE SCHULE</a:t>
            </a:r>
            <a:endParaRPr lang="en-US" sz="1300" dirty="0"/>
          </a:p>
        </p:txBody>
      </p:sp>
      <p:sp>
        <p:nvSpPr>
          <p:cNvPr id="3" name="an1 Titel"/>
          <p:cNvSpPr txBox="1"/>
          <p:nvPr/>
        </p:nvSpPr>
        <p:spPr>
          <a:xfrm>
            <a:off x="640080" y="7772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Lernen mit KI</a:t>
            </a:r>
            <a:endParaRPr lang="en-US" sz="4000" dirty="0"/>
          </a:p>
        </p:txBody>
      </p:sp>
      <p:sp>
        <p:nvSpPr>
          <p:cNvPr id="4" name="an2 Aussage"/>
          <p:cNvSpPr txBox="1"/>
          <p:nvPr/>
        </p:nvSpPr>
        <p:spPr>
          <a:xfrm>
            <a:off x="640080" y="182880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gibt verschiedene KI-Programme</a:t>
            </a:r>
            <a:endParaRPr lang="en-US" sz="2200" dirty="0"/>
          </a:p>
        </p:txBody>
      </p:sp>
      <p:sp>
        <p:nvSpPr>
          <p:cNvPr id="5" name="an2 Text"/>
          <p:cNvSpPr txBox="1"/>
          <p:nvPr/>
        </p:nvSpPr>
        <p:spPr>
          <a:xfrm>
            <a:off x="640080" y="26060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z. B. ChatGPT, Gemini oder Copilot</a:t>
            </a:r>
            <a:endParaRPr lang="en-US" sz="1800" dirty="0"/>
          </a:p>
        </p:txBody>
      </p:sp>
      <p:sp>
        <p:nvSpPr>
          <p:cNvPr id="6" name="an3 Aussage"/>
          <p:cNvSpPr txBox="1"/>
          <p:nvPr/>
        </p:nvSpPr>
        <p:spPr>
          <a:xfrm>
            <a:off x="640080" y="32918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 kann Fragen beantworten, Listen erstellen und vieles mehr</a:t>
            </a:r>
            <a:endParaRPr lang="en-US" sz="2200" dirty="0"/>
          </a:p>
        </p:txBody>
      </p:sp>
      <p:sp>
        <p:nvSpPr>
          <p:cNvPr id="7" name="an3 Text"/>
          <p:cNvSpPr txBox="1"/>
          <p:nvPr/>
        </p:nvSpPr>
        <p:spPr>
          <a:xfrm>
            <a:off x="640080" y="40690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zum Erklären, Üben und Wiederholen</a:t>
            </a:r>
            <a:endParaRPr lang="en-US" sz="1800" dirty="0"/>
          </a:p>
        </p:txBody>
      </p:sp>
      <p:sp>
        <p:nvSpPr>
          <p:cNvPr id="8" name="an4 Aussage"/>
          <p:cNvSpPr txBox="1"/>
          <p:nvPr/>
        </p:nvSpPr>
        <p:spPr>
          <a:xfrm>
            <a:off x="640080" y="475488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4F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 hat Chancen und Risiken</a:t>
            </a:r>
            <a:endParaRPr lang="en-US" sz="2200" dirty="0"/>
          </a:p>
        </p:txBody>
      </p:sp>
      <p:sp>
        <p:nvSpPr>
          <p:cNvPr id="9" name="an4 Text"/>
          <p:cNvSpPr txBox="1"/>
          <p:nvPr/>
        </p:nvSpPr>
        <p:spPr>
          <a:xfrm>
            <a:off x="640080" y="55321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 hilft beim Lernen – ersetzt aber nicht das eigene Denken</a:t>
            </a:r>
            <a:endParaRPr lang="en-US" sz="1800" dirty="0"/>
          </a:p>
        </p:txBody>
      </p:sp>
      <p:pic>
        <p:nvPicPr>
          <p:cNvPr id="10" name="an5 Foto" descr="/tmp/claude-0/-home-user-Thanos-ki/67e4cb18-13b6-593b-bbd8-624b7d1d5777/scratchpad/orig/ppt/media/image7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0"/>
            <a:ext cx="3749040" cy="2103120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10771632" y="384048"/>
              <a:ext cx="640080" cy="749808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640080" cy="749808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60000" ay="2880000" az="-36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100755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771632" y="384048"/>
                <a:ext cx="64008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11448288" y="384048"/>
              <a:ext cx="320040" cy="749808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320040" cy="749808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840000" ay="-2760000" az="30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8021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11448288" y="384048"/>
                <a:ext cx="320040" cy="749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gradcap" descr="3D-Modell gradcap"/>
              <p:cNvGraphicFramePr>
                <a:graphicFrameLocks noChangeAspect="1"/>
              </p:cNvGraphicFramePr>
              <p:nvPr/>
            </p:nvGraphicFramePr>
            <p:xfrm>
              <a:off x="8026288" y="3502207"/>
              <a:ext cx="3324824" cy="3324824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3324824" cy="3324824"/>
                    </a:xfrm>
                    <a:prstGeom prst="rect">
                      <a:avLst/>
                    </a:prstGeom>
                  </am3d:spPr>
                  <am3d:camera>
                    <am3d:pos x="0" y="0" z="6863430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94628" d="1000000"/>
                    <am3d:preTrans dx="0" dy="-10606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680000" ay="-144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48006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gradcap" descr="3D-Modell gradcap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8026288" y="3502207"/>
                <a:ext cx="3324824" cy="33248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4" name="!!m_net" descr="3D-Modell net"/>
              <p:cNvGraphicFramePr>
                <a:graphicFrameLocks noChangeAspect="1"/>
              </p:cNvGraphicFramePr>
              <p:nvPr/>
            </p:nvGraphicFramePr>
            <p:xfrm>
              <a:off x="12893040" y="4069080"/>
              <a:ext cx="2834640" cy="2834640"/>
            </p:xfrm>
            <a:graphic>
              <a:graphicData uri="http://schemas.microsoft.com/office/drawing/2017/model3d">
                <am3d:model3d r:embed="rId106">
                  <am3d:spPr>
                    <a:xfrm>
                      <a:off x="0" y="0"/>
                      <a:ext cx="2834640" cy="2834640"/>
                    </a:xfrm>
                    <a:prstGeom prst="rect">
                      <a:avLst/>
                    </a:prstGeom>
                  </am3d:spPr>
                  <am3d:camera>
                    <am3d:pos x="0" y="0" z="8142172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6511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00000" ay="2100000"/>
                    <am3d:postTrans dx="0" dy="0" dz="0"/>
                  </am3d:trans>
                  <am3d:raster rName="Office3DRenderer" rVer="16.0.8326">
                    <am3d:blip r:embed="rId107"/>
                  </am3d:raster>
                  <am3d:objViewport viewportSz="28346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4" name="!!m_net" descr="3D-Modell net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2893040" y="4069080"/>
                <a:ext cx="2834640" cy="2834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Hintergrundvideo">
            <a:hlinkClick r:id="" action="ppaction://media"/>
          </p:cNvPr>
          <p:cNvPicPr>
            <a:picLocks noChangeAspect="1"/>
          </p:cNvPicPr>
          <p:nvPr>
            <a:videoFile r:link="rId90"/>
            <p:extLst>
              <p:ext uri="{DAA4B4D4-6D71-4841-9C94-3DE7FCFB9230}">
                <p14:media xmlns:p14="http://schemas.microsoft.com/office/powerpoint/2010/main" r:embed="rId91"/>
              </p:ext>
            </p:extLst>
          </p:nvPr>
        </p:nvPicPr>
        <p:blipFill>
          <a:blip r:embed="rId9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01" name="Abdunklun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42B">
              <a:alpha val="58000"/>
            </a:srgbClr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" name="an1 Danke"/>
          <p:cNvSpPr txBox="1"/>
          <p:nvPr/>
        </p:nvSpPr>
        <p:spPr>
          <a:xfrm>
            <a:off x="4754880" y="201168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Danke fürs Zuhören!</a:t>
            </a:r>
            <a:endParaRPr lang="en-US" sz="5000" dirty="0"/>
          </a:p>
        </p:txBody>
      </p:sp>
      <p:sp>
        <p:nvSpPr>
          <p:cNvPr id="3" name="an2 Fragen"/>
          <p:cNvSpPr txBox="1"/>
          <p:nvPr/>
        </p:nvSpPr>
        <p:spPr>
          <a:xfrm>
            <a:off x="4754880" y="32918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C9B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Habt ihr noch Fragen?</a:t>
            </a:r>
            <a:endParaRPr lang="en-US" sz="26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1" name="!!K" descr="3D-Buchstabe K"/>
              <p:cNvGraphicFramePr>
                <a:graphicFrameLocks noChangeAspect="1"/>
              </p:cNvGraphicFramePr>
              <p:nvPr/>
            </p:nvGraphicFramePr>
            <p:xfrm>
              <a:off x="914400" y="1371600"/>
              <a:ext cx="2020824" cy="2377440"/>
            </p:xfrm>
            <a:graphic>
              <a:graphicData uri="http://schemas.microsoft.com/office/drawing/2017/model3d">
                <am3d:model3d r:embed="rId100">
                  <am3d:spPr>
                    <a:xfrm>
                      <a:off x="0" y="0"/>
                      <a:ext cx="2020824" cy="2377440"/>
                    </a:xfrm>
                    <a:prstGeom prst="rect">
                      <a:avLst/>
                    </a:prstGeom>
                  </am3d:spPr>
                  <am3d:camera>
                    <am3d:pos x="0" y="0" z="630370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374625" d="1000000"/>
                    <am3d:preTrans dx="0" dy="-1791920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240000" ay="1080000" az="-120000"/>
                    <am3d:postTrans dx="0" dy="0" dz="0"/>
                  </am3d:trans>
                  <am3d:raster rName="Office3DRenderer" rVer="16.0.8326">
                    <am3d:blip r:embed="rId101"/>
                  </am3d:raster>
                  <am3d:objViewport viewportSz="319468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1" name="!!K" descr="3D-Buchstabe K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914400" y="1371600"/>
                <a:ext cx="2020824" cy="237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2" name="!!I" descr="3D-Buchstabe I"/>
              <p:cNvGraphicFramePr>
                <a:graphicFrameLocks noChangeAspect="1"/>
              </p:cNvGraphicFramePr>
              <p:nvPr/>
            </p:nvGraphicFramePr>
            <p:xfrm flipH="1">
              <a:off x="3017520" y="1371600"/>
              <a:ext cx="1005840" cy="2377440"/>
            </p:xfrm>
            <a:graphic>
              <a:graphicData uri="http://schemas.microsoft.com/office/drawing/2017/model3d">
                <am3d:model3d r:embed="rId102">
                  <am3d:spPr>
                    <a:xfrm flipH="1">
                      <a:off x="0" y="0"/>
                      <a:ext cx="1005840" cy="2377440"/>
                    </a:xfrm>
                    <a:prstGeom prst="rect">
                      <a:avLst/>
                    </a:prstGeom>
                  </am3d:spPr>
                  <am3d:camera>
                    <am3d:pos x="0" y="0" z="4930740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157454" d="1000000"/>
                    <am3d:preTrans dx="0" dy="-1802581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40000" ay="-2100000" az="120000"/>
                    <am3d:postTrans dx="0" dy="0" dz="0"/>
                  </am3d:trans>
                  <am3d:raster rName="Office3DRenderer" rVer="16.0.8326">
                    <am3d:blip r:embed="rId103"/>
                  </am3d:raster>
                  <am3d:objViewport viewportSz="254344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2" name="!!I" descr="3D-Buchstabe I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 flipH="1">
                <a:off x="3017520" y="1371600"/>
                <a:ext cx="1005840" cy="237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3" name="!!m_net" descr="3D-Modell net"/>
              <p:cNvGraphicFramePr>
                <a:graphicFrameLocks noChangeAspect="1"/>
              </p:cNvGraphicFramePr>
              <p:nvPr/>
            </p:nvGraphicFramePr>
            <p:xfrm>
              <a:off x="685800" y="4069080"/>
              <a:ext cx="2834640" cy="2834640"/>
            </p:xfrm>
            <a:graphic>
              <a:graphicData uri="http://schemas.microsoft.com/office/drawing/2017/model3d">
                <am3d:model3d r:embed="rId104">
                  <am3d:spPr>
                    <a:xfrm>
                      <a:off x="0" y="0"/>
                      <a:ext cx="2834640" cy="2834640"/>
                    </a:xfrm>
                    <a:prstGeom prst="rect">
                      <a:avLst/>
                    </a:prstGeom>
                  </am3d:spPr>
                  <am3d:camera>
                    <am3d:pos x="0" y="0" z="8142172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65116" d="1000000"/>
                    <am3d:preTrans dx="0" dy="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900000" ay="2100000"/>
                    <am3d:postTrans dx="0" dy="0" dz="0"/>
                  </am3d:trans>
                  <am3d:raster rName="Office3DRenderer" rVer="16.0.8326">
                    <am3d:blip r:embed="rId105"/>
                  </am3d:raster>
                  <am3d:objViewport viewportSz="28346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3" name="!!m_net" descr="3D-Modell net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685800" y="4069080"/>
                <a:ext cx="2834640" cy="28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04" name="!!m_gradcap" descr="3D-Modell gradcap"/>
              <p:cNvGraphicFramePr>
                <a:graphicFrameLocks noChangeAspect="1"/>
              </p:cNvGraphicFramePr>
              <p:nvPr/>
            </p:nvGraphicFramePr>
            <p:xfrm>
              <a:off x="8503920" y="3931920"/>
              <a:ext cx="3108960" cy="3108960"/>
            </p:xfrm>
            <a:graphic>
              <a:graphicData uri="http://schemas.microsoft.com/office/drawing/2017/model3d">
                <am3d:model3d r:embed="rId106">
                  <am3d:spPr>
                    <a:xfrm>
                      <a:off x="0" y="0"/>
                      <a:ext cx="3108960" cy="3108960"/>
                    </a:xfrm>
                    <a:prstGeom prst="rect">
                      <a:avLst/>
                    </a:prstGeom>
                  </am3d:spPr>
                  <am3d:camera>
                    <am3d:pos x="0" y="0" z="6863430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94628" d="1000000"/>
                    <am3d:preTrans dx="0" dy="-10606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800000" ay="1200000"/>
                    <am3d:postTrans dx="0" dy="0" dz="0"/>
                  </am3d:trans>
                  <am3d:raster rName="Office3DRenderer" rVer="16.0.8326">
                    <am3d:blip r:embed="rId107"/>
                  </am3d:raster>
                  <am3d:objViewport viewportSz="31089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04" name="!!m_gradcap" descr="3D-Modell gradcap"/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8503920" y="3931920"/>
                <a:ext cx="3108960" cy="3108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0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13" repeatCount="indefinite" fill="hold" display="0">
                  <p:stCondLst>
                    <p:cond delay="indefinite"/>
                  </p:stCondLst>
                </p:cTn>
                <p:tgtEl>
                  <p:spTgt spid="900"/>
                </p:tgtEl>
              </p:cMediaNode>
            </p:video>
          </p:childTnLst>
        </p:cTn>
      </p:par>
    </p:tnLst>
    <p:bldLst>
      <p:bldP spid="2" grpId="0"/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Künstliche Intelligenz</dc:title>
  <dc:subject>PptxGenJS Presentation</dc:subject>
  <dc:creator>PptxGenJS</dc:creator>
  <cp:lastModifiedBy>PptxGenJS</cp:lastModifiedBy>
  <cp:revision>1</cp:revision>
  <dcterms:created xsi:type="dcterms:W3CDTF">2026-10-22T13:13:39Z</dcterms:created>
  <dcterms:modified xsi:type="dcterms:W3CDTF">2026-10-22T13:13:39Z</dcterms:modified>
</cp:coreProperties>
</file>