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Default Extension="glb" ContentType="model/gltf.binary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Relationship Id="rId106" Type="http://schemas.microsoft.com/office/2017/06/relationships/model3d" Target="../media/m3d_model3d4.glb"/><Relationship Id="rId107" Type="http://schemas.openxmlformats.org/officeDocument/2006/relationships/image" Target="../media/m3d_image1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4.glb"/><Relationship Id="rId105" Type="http://schemas.openxmlformats.org/officeDocument/2006/relationships/image" Target="../media/m3d_image19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Relationship Id="rId110" Type="http://schemas.microsoft.com/office/2017/06/relationships/model3d" Target="../media/m3d_model3d3.glb"/><Relationship Id="rId111" Type="http://schemas.openxmlformats.org/officeDocument/2006/relationships/image" Target="../media/m3d_image1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7.glb"/><Relationship Id="rId109" Type="http://schemas.openxmlformats.org/officeDocument/2006/relationships/image" Target="../media/m3d_image28.png"/><Relationship Id="rId110" Type="http://schemas.microsoft.com/office/2017/06/relationships/model3d" Target="../media/m3d_model3d4.glb"/><Relationship Id="rId111" Type="http://schemas.openxmlformats.org/officeDocument/2006/relationships/image" Target="../media/m3d_image19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7.glb"/><Relationship Id="rId105" Type="http://schemas.openxmlformats.org/officeDocument/2006/relationships/image" Target="../media/m3d_image28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8.glb"/><Relationship Id="rId109" Type="http://schemas.openxmlformats.org/officeDocument/2006/relationships/image" Target="../media/m3d_image30.png"/><Relationship Id="rId110" Type="http://schemas.microsoft.com/office/2017/06/relationships/model3d" Target="../media/m3d_model3d5.glb"/><Relationship Id="rId111" Type="http://schemas.openxmlformats.org/officeDocument/2006/relationships/image" Target="../media/m3d_image2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8.glb"/><Relationship Id="rId105" Type="http://schemas.openxmlformats.org/officeDocument/2006/relationships/image" Target="../media/m3d_image30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Relationship Id="rId110" Type="http://schemas.microsoft.com/office/2017/06/relationships/model3d" Target="../media/m3d_model3d7.glb"/><Relationship Id="rId111" Type="http://schemas.openxmlformats.org/officeDocument/2006/relationships/image" Target="../media/m3d_image2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5.glb"/><Relationship Id="rId109" Type="http://schemas.openxmlformats.org/officeDocument/2006/relationships/image" Target="../media/m3d_image21.png"/><Relationship Id="rId110" Type="http://schemas.microsoft.com/office/2017/06/relationships/model3d" Target="../media/m3d_model3d8.glb"/><Relationship Id="rId111" Type="http://schemas.openxmlformats.org/officeDocument/2006/relationships/image" Target="../media/m3d_image3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Relationship Id="rId106" Type="http://schemas.microsoft.com/office/2017/06/relationships/model3d" Target="../media/m3d_model3d3.glb"/><Relationship Id="rId107" Type="http://schemas.openxmlformats.org/officeDocument/2006/relationships/image" Target="../media/m3d_image3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10.glb"/><Relationship Id="rId107" Type="http://schemas.openxmlformats.org/officeDocument/2006/relationships/image" Target="../media/m3d_image66.png"/><Relationship Id="rId90" Type="http://schemas.openxmlformats.org/officeDocument/2006/relationships/video" Target="../media/media1.mp4"/><Relationship Id="rId91" Type="http://schemas.microsoft.com/office/2007/relationships/media" Target="../media/media1.mp4"/><Relationship Id="rId92" Type="http://schemas.openxmlformats.org/officeDocument/2006/relationships/image" Target="../media/m3d_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Titel"/>
          <p:cNvSpPr txBox="1"/>
          <p:nvPr/>
        </p:nvSpPr>
        <p:spPr>
          <a:xfrm>
            <a:off x="512064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Künstliche Intelligenz</a:t>
            </a:r>
            <a:endParaRPr lang="en-US" sz="5400" dirty="0"/>
          </a:p>
        </p:txBody>
      </p:sp>
      <p:sp>
        <p:nvSpPr>
          <p:cNvPr id="3" name="an2 Untertitel"/>
          <p:cNvSpPr txBox="1"/>
          <p:nvPr/>
        </p:nvSpPr>
        <p:spPr>
          <a:xfrm>
            <a:off x="512064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ist, wie sie funktioniert und wie wir sie sinnvoll nutzen</a:t>
            </a:r>
            <a:endParaRPr lang="en-US" sz="2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731520" y="1325880"/>
              <a:ext cx="2560320" cy="301752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560320" cy="301752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" ay="426000" az="24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4054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1520" y="1325880"/>
                <a:ext cx="2560320" cy="30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401568" y="1325880"/>
              <a:ext cx="1280160" cy="301752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280160" cy="301752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" ay="-1242000" az="9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32282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401568" y="1325880"/>
                <a:ext cx="1280160" cy="30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an2 Text"/>
          <p:cNvSpPr txBox="1"/>
          <p:nvPr/>
        </p:nvSpPr>
        <p:spPr>
          <a:xfrm>
            <a:off x="173736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Fachbegriffe</a:t>
            </a:r>
            <a:endParaRPr lang="en-US" sz="2400" dirty="0"/>
          </a:p>
        </p:txBody>
      </p:sp>
      <p:sp>
        <p:nvSpPr>
          <p:cNvPr id="6" name="an3 Nr"/>
          <p:cNvSpPr txBox="1"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an3 Text"/>
          <p:cNvSpPr txBox="1"/>
          <p:nvPr/>
        </p:nvSpPr>
        <p:spPr>
          <a:xfrm>
            <a:off x="173736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Kodex / Regeln</a:t>
            </a:r>
            <a:endParaRPr lang="en-US" sz="2400" dirty="0"/>
          </a:p>
        </p:txBody>
      </p:sp>
      <p:sp>
        <p:nvSpPr>
          <p:cNvPr id="8" name="an4 Nr"/>
          <p:cNvSpPr txBox="1"/>
          <p:nvPr/>
        </p:nvSpPr>
        <p:spPr>
          <a:xfrm>
            <a:off x="64008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9" name="an4 Text"/>
          <p:cNvSpPr txBox="1"/>
          <p:nvPr/>
        </p:nvSpPr>
        <p:spPr>
          <a:xfrm>
            <a:off x="173736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2400" dirty="0"/>
          </a:p>
        </p:txBody>
      </p:sp>
      <p:sp>
        <p:nvSpPr>
          <p:cNvPr id="10" name="an5 Nr"/>
          <p:cNvSpPr txBox="1"/>
          <p:nvPr/>
        </p:nvSpPr>
        <p:spPr>
          <a:xfrm>
            <a:off x="64008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1" name="an5 Text"/>
          <p:cNvSpPr txBox="1"/>
          <p:nvPr/>
        </p:nvSpPr>
        <p:spPr>
          <a:xfrm>
            <a:off x="173736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Writing</a:t>
            </a:r>
            <a:endParaRPr lang="en-US" sz="2400" dirty="0"/>
          </a:p>
        </p:txBody>
      </p:sp>
      <p:sp>
        <p:nvSpPr>
          <p:cNvPr id="12" name="an6 Nr"/>
          <p:cNvSpPr txBox="1"/>
          <p:nvPr/>
        </p:nvSpPr>
        <p:spPr>
          <a:xfrm>
            <a:off x="630936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an6 Text"/>
          <p:cNvSpPr txBox="1"/>
          <p:nvPr/>
        </p:nvSpPr>
        <p:spPr>
          <a:xfrm>
            <a:off x="740664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Faktencheck</a:t>
            </a:r>
            <a:endParaRPr lang="en-US" sz="2400" dirty="0"/>
          </a:p>
        </p:txBody>
      </p:sp>
      <p:sp>
        <p:nvSpPr>
          <p:cNvPr id="14" name="an7 Nr"/>
          <p:cNvSpPr txBox="1"/>
          <p:nvPr/>
        </p:nvSpPr>
        <p:spPr>
          <a:xfrm>
            <a:off x="630936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15" name="an7 Text"/>
          <p:cNvSpPr txBox="1"/>
          <p:nvPr/>
        </p:nvSpPr>
        <p:spPr>
          <a:xfrm>
            <a:off x="740664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Urheberrecht und Datenschutz</a:t>
            </a:r>
            <a:endParaRPr lang="en-US" sz="2400" dirty="0"/>
          </a:p>
        </p:txBody>
      </p:sp>
      <p:sp>
        <p:nvSpPr>
          <p:cNvPr id="16" name="an8 Nr"/>
          <p:cNvSpPr txBox="1"/>
          <p:nvPr/>
        </p:nvSpPr>
        <p:spPr>
          <a:xfrm>
            <a:off x="63093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17" name="an8 Text"/>
          <p:cNvSpPr txBox="1"/>
          <p:nvPr/>
        </p:nvSpPr>
        <p:spPr>
          <a:xfrm>
            <a:off x="74066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Alltag</a:t>
            </a:r>
            <a:endParaRPr lang="en-US" sz="2400" dirty="0"/>
          </a:p>
        </p:txBody>
      </p:sp>
      <p:sp>
        <p:nvSpPr>
          <p:cNvPr id="18" name="an9 Nr"/>
          <p:cNvSpPr txBox="1"/>
          <p:nvPr/>
        </p:nvSpPr>
        <p:spPr>
          <a:xfrm>
            <a:off x="630936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19" name="an9 Text"/>
          <p:cNvSpPr txBox="1"/>
          <p:nvPr/>
        </p:nvSpPr>
        <p:spPr>
          <a:xfrm>
            <a:off x="74066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mit KI</a:t>
            </a:r>
            <a:endParaRPr 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BEGRIFFSERKLÄRUNG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4000" dirty="0"/>
          </a:p>
        </p:txBody>
      </p:sp>
      <p:sp>
        <p:nvSpPr>
          <p:cNvPr id="4" name="an2 Begriff"/>
          <p:cNvSpPr txBox="1"/>
          <p:nvPr/>
        </p:nvSpPr>
        <p:spPr>
          <a:xfrm>
            <a:off x="6400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</a:t>
            </a:r>
            <a:endParaRPr lang="en-US" sz="2400" dirty="0"/>
          </a:p>
        </p:txBody>
      </p:sp>
      <p:sp>
        <p:nvSpPr>
          <p:cNvPr id="5" name="an2 Erklärung"/>
          <p:cNvSpPr txBox="1"/>
          <p:nvPr/>
        </p:nvSpPr>
        <p:spPr>
          <a:xfrm>
            <a:off x="33832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Riesige Datenmengen – viel zu groß, um sie von Hand auszuwerten.</a:t>
            </a:r>
            <a:endParaRPr lang="en-US" sz="1800" dirty="0"/>
          </a:p>
        </p:txBody>
      </p:sp>
      <p:sp>
        <p:nvSpPr>
          <p:cNvPr id="6" name="an3 Begriff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400" dirty="0"/>
          </a:p>
        </p:txBody>
      </p:sp>
      <p:sp>
        <p:nvSpPr>
          <p:cNvPr id="7" name="an3 Erklärung"/>
          <p:cNvSpPr txBox="1"/>
          <p:nvPr/>
        </p:nvSpPr>
        <p:spPr>
          <a:xfrm>
            <a:off x="33832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Zahlen – das „Futter“, aus dem eine KI lernt.</a:t>
            </a:r>
            <a:endParaRPr lang="en-US" sz="1800" dirty="0"/>
          </a:p>
        </p:txBody>
      </p:sp>
      <p:sp>
        <p:nvSpPr>
          <p:cNvPr id="8" name="an4 Begriff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9" name="an4 Erklärung"/>
          <p:cNvSpPr txBox="1"/>
          <p:nvPr/>
        </p:nvSpPr>
        <p:spPr>
          <a:xfrm>
            <a:off x="338328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lernt mit künstlichen neuronalen Netzen, ähnlich wie ein Gehirn.</a:t>
            </a:r>
            <a:endParaRPr lang="en-US" sz="1800" dirty="0"/>
          </a:p>
        </p:txBody>
      </p:sp>
      <p:sp>
        <p:nvSpPr>
          <p:cNvPr id="10" name="an5 Begriff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2400" dirty="0"/>
          </a:p>
        </p:txBody>
      </p:sp>
      <p:sp>
        <p:nvSpPr>
          <p:cNvPr id="11" name="an5 Erklärung"/>
          <p:cNvSpPr txBox="1"/>
          <p:nvPr/>
        </p:nvSpPr>
        <p:spPr>
          <a:xfrm>
            <a:off x="33832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mit dem man schreiben kann – z. B. ChatGPT oder Gemini.</a:t>
            </a:r>
            <a:endParaRPr lang="en-US" sz="1800" dirty="0"/>
          </a:p>
        </p:txBody>
      </p:sp>
      <p:sp>
        <p:nvSpPr>
          <p:cNvPr id="12" name="!!panel"/>
          <p:cNvSpPr/>
          <p:nvPr/>
        </p:nvSpPr>
        <p:spPr>
          <a:xfrm>
            <a:off x="8412480" y="173736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16142B"/>
          </a:solidFill>
          <a:ln w="12700">
            <a:solidFill>
              <a:srgbClr val="1614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7532171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532171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12893040" y="2162120"/>
              <a:ext cx="3831374" cy="3831374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KODEX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Regeln für KI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an2 Regel"/>
          <p:cNvSpPr txBox="1"/>
          <p:nvPr/>
        </p:nvSpPr>
        <p:spPr>
          <a:xfrm>
            <a:off x="1280160" y="18013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1280160" y="2167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sage offen, wo und wofür ich KI benutzt habe.</a:t>
            </a:r>
            <a:endParaRPr lang="en-US" sz="1700" dirty="0"/>
          </a:p>
        </p:txBody>
      </p:sp>
      <p:sp>
        <p:nvSpPr>
          <p:cNvPr id="7" name="an3 Nr"/>
          <p:cNvSpPr txBox="1"/>
          <p:nvPr/>
        </p:nvSpPr>
        <p:spPr>
          <a:xfrm>
            <a:off x="640080" y="2679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an3 Regel"/>
          <p:cNvSpPr txBox="1"/>
          <p:nvPr/>
        </p:nvSpPr>
        <p:spPr>
          <a:xfrm>
            <a:off x="128016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12801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persönlichen Daten in die KI eingeben.</a:t>
            </a:r>
            <a:endParaRPr lang="en-US" sz="1700" dirty="0"/>
          </a:p>
        </p:txBody>
      </p:sp>
      <p:sp>
        <p:nvSpPr>
          <p:cNvPr id="10" name="an4 Nr"/>
          <p:cNvSpPr txBox="1"/>
          <p:nvPr/>
        </p:nvSpPr>
        <p:spPr>
          <a:xfrm>
            <a:off x="640080" y="35753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an4 Regel"/>
          <p:cNvSpPr txBox="1"/>
          <p:nvPr/>
        </p:nvSpPr>
        <p:spPr>
          <a:xfrm>
            <a:off x="1280160" y="3593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Eigenverantwortung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128016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selbst für mein Ergebnis verantwortlich.</a:t>
            </a:r>
            <a:endParaRPr lang="en-US" sz="1700" dirty="0"/>
          </a:p>
        </p:txBody>
      </p:sp>
      <p:sp>
        <p:nvSpPr>
          <p:cNvPr id="13" name="an5 Nr"/>
          <p:cNvSpPr txBox="1"/>
          <p:nvPr/>
        </p:nvSpPr>
        <p:spPr>
          <a:xfrm>
            <a:off x="640080" y="447141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an5 Regel"/>
          <p:cNvSpPr txBox="1"/>
          <p:nvPr/>
        </p:nvSpPr>
        <p:spPr>
          <a:xfrm>
            <a:off x="1280160" y="4489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Qualitätscheck</a:t>
            </a:r>
            <a:endParaRPr lang="en-US" sz="2200" dirty="0"/>
          </a:p>
        </p:txBody>
      </p:sp>
      <p:sp>
        <p:nvSpPr>
          <p:cNvPr id="15" name="an5 Text"/>
          <p:cNvSpPr txBox="1"/>
          <p:nvPr/>
        </p:nvSpPr>
        <p:spPr>
          <a:xfrm>
            <a:off x="1280160" y="4855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 immer überprüfen, bevor ich sie nutze.</a:t>
            </a:r>
            <a:endParaRPr lang="en-US" sz="1700" dirty="0"/>
          </a:p>
        </p:txBody>
      </p:sp>
      <p:sp>
        <p:nvSpPr>
          <p:cNvPr id="16" name="an6 Nr"/>
          <p:cNvSpPr txBox="1"/>
          <p:nvPr/>
        </p:nvSpPr>
        <p:spPr>
          <a:xfrm>
            <a:off x="640080" y="5367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an6 Regel"/>
          <p:cNvSpPr txBox="1"/>
          <p:nvPr/>
        </p:nvSpPr>
        <p:spPr>
          <a:xfrm>
            <a:off x="1280160" y="5385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 Regeln</a:t>
            </a:r>
            <a:endParaRPr lang="en-US" sz="2200" dirty="0"/>
          </a:p>
        </p:txBody>
      </p:sp>
      <p:sp>
        <p:nvSpPr>
          <p:cNvPr id="18" name="an6 Text"/>
          <p:cNvSpPr txBox="1"/>
          <p:nvPr/>
        </p:nvSpPr>
        <p:spPr>
          <a:xfrm>
            <a:off x="1280160" y="5751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Schulregeln einhalten – KI nicht zum Schummeln nutzen.</a:t>
            </a:r>
            <a:endParaRPr lang="en-US" sz="1700" dirty="0"/>
          </a:p>
        </p:txBody>
      </p:sp>
      <p:sp>
        <p:nvSpPr>
          <p:cNvPr id="19" name="!!panel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7955754" y="2162120"/>
              <a:ext cx="3831374" cy="383137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5575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12893040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net" descr="3D-Modell net"/>
              <p:cNvGraphicFramePr>
                <a:graphicFrameLocks noChangeAspect="1"/>
              </p:cNvGraphicFramePr>
              <p:nvPr/>
            </p:nvGraphicFramePr>
            <p:xfrm>
              <a:off x="-5287637" y="1533152"/>
              <a:ext cx="4921877" cy="492187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5287637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Frage"/>
          <p:cNvSpPr txBox="1"/>
          <p:nvPr/>
        </p:nvSpPr>
        <p:spPr>
          <a:xfrm>
            <a:off x="64008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lernt eine KI?</a:t>
            </a:r>
            <a:endParaRPr lang="en-US" sz="36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926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selbstfahrendes Auto soll lernen, Stoppschilder zu erkennen. Das passiert in 4 Schritten.</a:t>
            </a:r>
            <a:endParaRPr lang="en-US" sz="24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4572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499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99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12893040" y="1017872"/>
              <a:ext cx="4090737" cy="409073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-4197134" y="2162120"/>
              <a:ext cx="3831374" cy="3831374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19713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Daten sammeln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bekommt riesige Mengen an Daten – z. B. Millionen Fotos von Straßen, Schildern und Fußgängern.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137160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7190072" y="1017872"/>
              <a:ext cx="4090737" cy="409073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90072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10150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50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gear" descr="3D-Modell gear"/>
              <p:cNvGraphicFramePr>
                <a:graphicFrameLocks noChangeAspect="1"/>
              </p:cNvGraphicFramePr>
              <p:nvPr/>
            </p:nvGraphicFramePr>
            <p:xfrm>
              <a:off x="12893040" y="873832"/>
              <a:ext cx="4378817" cy="437881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Training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übt mit den Daten: Sie rät, vergleicht mit der richtigen Lösung und verbessert sich – immer wieder.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411480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ear" descr="3D-Modell gear"/>
              <p:cNvGraphicFramePr>
                <a:graphicFrameLocks noChangeAspect="1"/>
              </p:cNvGraphicFramePr>
              <p:nvPr/>
            </p:nvGraphicFramePr>
            <p:xfrm>
              <a:off x="7046032" y="873832"/>
              <a:ext cx="4378817" cy="437881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46032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582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582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-4456497" y="1017872"/>
              <a:ext cx="4090737" cy="409073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456497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Deep Learning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künstliches neuronales Netz mit vielen Schichten erkennt dabei Muster: Form, Farbe und Schrift eines Stoppschilds.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685800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4F2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476008" y="303808"/>
              <a:ext cx="5518864" cy="551886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76008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65014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014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gear" descr="3D-Modell gear"/>
              <p:cNvGraphicFramePr>
                <a:graphicFrameLocks noChangeAspect="1"/>
              </p:cNvGraphicFramePr>
              <p:nvPr/>
            </p:nvGraphicFramePr>
            <p:xfrm>
              <a:off x="-4744577" y="873832"/>
              <a:ext cx="4378817" cy="437881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44577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Vorhersage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erkennt die KI auch neue Bilder: „Das ist ein Stoppschild → bremsen!“ Sie rechnet mit Wahrscheinlichkeiten – Fehler sind möglich.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960120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5B3FD9"/>
          </a:solidFill>
          <a:ln w="25400">
            <a:solidFill>
              <a:srgbClr val="5B3FD9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92446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446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-5884624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5884624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RICHTIG FRAGEN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Writing</a:t>
            </a:r>
            <a:endParaRPr lang="en-US" sz="4000" dirty="0"/>
          </a:p>
        </p:txBody>
      </p:sp>
      <p:sp>
        <p:nvSpPr>
          <p:cNvPr id="4" name="an2 Label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nicht</a:t>
            </a:r>
            <a:endParaRPr lang="en-US" sz="1400" dirty="0"/>
          </a:p>
        </p:txBody>
      </p:sp>
      <p:sp>
        <p:nvSpPr>
          <p:cNvPr id="5" name="an2 Box"/>
          <p:cNvSpPr/>
          <p:nvPr/>
        </p:nvSpPr>
        <p:spPr>
          <a:xfrm>
            <a:off x="640080" y="21945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an2 Prompt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Photosynthese</a:t>
            </a:r>
            <a:endParaRPr lang="en-US" sz="2200" dirty="0"/>
          </a:p>
        </p:txBody>
      </p:sp>
      <p:sp>
        <p:nvSpPr>
          <p:cNvPr id="7" name="an3 Hinweis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ungenau</a:t>
            </a:r>
            <a:endParaRPr lang="en-US" sz="1400" dirty="0"/>
          </a:p>
        </p:txBody>
      </p:sp>
      <p:sp>
        <p:nvSpPr>
          <p:cNvPr id="8" name="an4 Label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besser</a:t>
            </a:r>
            <a:endParaRPr lang="en-US" sz="1400" dirty="0"/>
          </a:p>
        </p:txBody>
      </p:sp>
      <p:sp>
        <p:nvSpPr>
          <p:cNvPr id="9" name="an4 Box"/>
          <p:cNvSpPr/>
          <p:nvPr/>
        </p:nvSpPr>
        <p:spPr>
          <a:xfrm>
            <a:off x="640080" y="4206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E6F6EE"/>
          </a:solidFill>
          <a:ln w="12700">
            <a:solidFill>
              <a:srgbClr val="E6F6EE"/>
            </a:solidFill>
            <a:prstDash val="solid"/>
          </a:ln>
        </p:spPr>
      </p:sp>
      <p:sp>
        <p:nvSpPr>
          <p:cNvPr id="10" name="an4 Prompt"/>
          <p:cNvSpPr txBox="1"/>
          <p:nvPr/>
        </p:nvSpPr>
        <p:spPr>
          <a:xfrm>
            <a:off x="914400" y="42062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mein Lernhelfer. Erkläre mir einfach und in 5 Sätzen, wie Photosynthese funktioniert. Gib am Ende ein Beispiel aus dem Alltag.</a:t>
            </a:r>
            <a:endParaRPr lang="en-US" sz="1700" dirty="0"/>
          </a:p>
        </p:txBody>
      </p:sp>
      <p:sp>
        <p:nvSpPr>
          <p:cNvPr id="11" name="an5 Hinweis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1400" dirty="0"/>
          </a:p>
        </p:txBody>
      </p:sp>
      <p:sp>
        <p:nvSpPr>
          <p:cNvPr id="12" name="an3 Überschrift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geht ein guter Prompt</a:t>
            </a:r>
            <a:endParaRPr lang="en-US" sz="2400" dirty="0"/>
          </a:p>
        </p:txBody>
      </p:sp>
      <p:sp>
        <p:nvSpPr>
          <p:cNvPr id="13" name="an4 Punkt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geben</a:t>
            </a:r>
            <a:endParaRPr lang="en-US" sz="1900" dirty="0"/>
          </a:p>
        </p:txBody>
      </p:sp>
      <p:sp>
        <p:nvSpPr>
          <p:cNvPr id="14" name="an4 Detail"/>
          <p:cNvSpPr txBox="1"/>
          <p:nvPr/>
        </p:nvSpPr>
        <p:spPr>
          <a:xfrm>
            <a:off x="658368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bist mein Lernhelfer …“</a:t>
            </a:r>
            <a:endParaRPr lang="en-US" sz="1500" dirty="0"/>
          </a:p>
        </p:txBody>
      </p:sp>
      <p:sp>
        <p:nvSpPr>
          <p:cNvPr id="15" name="an5 Punkt"/>
          <p:cNvSpPr txBox="1"/>
          <p:nvPr/>
        </p:nvSpPr>
        <p:spPr>
          <a:xfrm>
            <a:off x="6583680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klar sagen</a:t>
            </a:r>
            <a:endParaRPr lang="en-US" sz="1900" dirty="0"/>
          </a:p>
        </p:txBody>
      </p:sp>
      <p:sp>
        <p:nvSpPr>
          <p:cNvPr id="16" name="an5 Detail"/>
          <p:cNvSpPr txBox="1"/>
          <p:nvPr/>
        </p:nvSpPr>
        <p:spPr>
          <a:xfrm>
            <a:off x="6583680" y="35753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will ich wissen?</a:t>
            </a:r>
            <a:endParaRPr lang="en-US" sz="1500" dirty="0"/>
          </a:p>
        </p:txBody>
      </p:sp>
      <p:sp>
        <p:nvSpPr>
          <p:cNvPr id="17" name="an6 Punkt"/>
          <p:cNvSpPr txBox="1"/>
          <p:nvPr/>
        </p:nvSpPr>
        <p:spPr>
          <a:xfrm>
            <a:off x="658368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nennen</a:t>
            </a:r>
            <a:endParaRPr lang="en-US" sz="1900" dirty="0"/>
          </a:p>
        </p:txBody>
      </p:sp>
      <p:sp>
        <p:nvSpPr>
          <p:cNvPr id="18" name="an6 Detail"/>
          <p:cNvSpPr txBox="1"/>
          <p:nvPr/>
        </p:nvSpPr>
        <p:spPr>
          <a:xfrm>
            <a:off x="6583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Thema, Fach, wofür ich es brauche</a:t>
            </a:r>
            <a:endParaRPr lang="en-US" sz="1500" dirty="0"/>
          </a:p>
        </p:txBody>
      </p:sp>
      <p:sp>
        <p:nvSpPr>
          <p:cNvPr id="19" name="an7 Punkt"/>
          <p:cNvSpPr txBox="1"/>
          <p:nvPr/>
        </p:nvSpPr>
        <p:spPr>
          <a:xfrm>
            <a:off x="65836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wünschen</a:t>
            </a:r>
            <a:endParaRPr lang="en-US" sz="1900" dirty="0"/>
          </a:p>
        </p:txBody>
      </p:sp>
      <p:sp>
        <p:nvSpPr>
          <p:cNvPr id="20" name="an7 Detail"/>
          <p:cNvSpPr txBox="1"/>
          <p:nvPr/>
        </p:nvSpPr>
        <p:spPr>
          <a:xfrm>
            <a:off x="6583680" y="5111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5 Sätze, Tabelle …</a:t>
            </a:r>
            <a:endParaRPr lang="en-US" sz="1500" dirty="0"/>
          </a:p>
        </p:txBody>
      </p:sp>
      <p:sp>
        <p:nvSpPr>
          <p:cNvPr id="21" name="an8 Punkt"/>
          <p:cNvSpPr txBox="1"/>
          <p:nvPr/>
        </p:nvSpPr>
        <p:spPr>
          <a:xfrm>
            <a:off x="658368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900" dirty="0"/>
          </a:p>
        </p:txBody>
      </p:sp>
      <p:sp>
        <p:nvSpPr>
          <p:cNvPr id="22" name="an8 Detail"/>
          <p:cNvSpPr txBox="1"/>
          <p:nvPr/>
        </p:nvSpPr>
        <p:spPr>
          <a:xfrm>
            <a:off x="6583680" y="5879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prüfen und verbessern lassen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12893040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-2355646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2355646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NICHT ALLES GLAUBEN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Faktencheck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5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kann sich irren.</a:t>
            </a:r>
            <a:endParaRPr lang="en-US" sz="44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erfindet manchmal Fakten, Zahlen oder Quellen, die echt klingen. Das nennt man „Halluzinieren“.</a:t>
            </a:r>
            <a:endParaRPr lang="en-US" sz="2000" dirty="0"/>
          </a:p>
        </p:txBody>
      </p:sp>
      <p:sp>
        <p:nvSpPr>
          <p:cNvPr id="6" name="an4 Karte"/>
          <p:cNvSpPr/>
          <p:nvPr/>
        </p:nvSpPr>
        <p:spPr>
          <a:xfrm>
            <a:off x="6583680" y="1828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7" name="an4 Titel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prüfen</a:t>
            </a:r>
            <a:endParaRPr lang="en-US" sz="2100" dirty="0"/>
          </a:p>
        </p:txBody>
      </p:sp>
      <p:sp>
        <p:nvSpPr>
          <p:cNvPr id="8" name="an4 Text"/>
          <p:cNvSpPr txBox="1"/>
          <p:nvPr/>
        </p:nvSpPr>
        <p:spPr>
          <a:xfrm>
            <a:off x="685800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die Info? Gibt es eine seriöse Quelle dazu?</a:t>
            </a:r>
            <a:endParaRPr lang="en-US" sz="1600" dirty="0"/>
          </a:p>
        </p:txBody>
      </p:sp>
      <p:sp>
        <p:nvSpPr>
          <p:cNvPr id="9" name="an5 Karte"/>
          <p:cNvSpPr/>
          <p:nvPr/>
        </p:nvSpPr>
        <p:spPr>
          <a:xfrm>
            <a:off x="658368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0" name="an5 Titel"/>
          <p:cNvSpPr txBox="1"/>
          <p:nvPr/>
        </p:nvSpPr>
        <p:spPr>
          <a:xfrm>
            <a:off x="68580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2100" dirty="0"/>
          </a:p>
        </p:txBody>
      </p:sp>
      <p:sp>
        <p:nvSpPr>
          <p:cNvPr id="11" name="an5 Text"/>
          <p:cNvSpPr txBox="1"/>
          <p:nvPr/>
        </p:nvSpPr>
        <p:spPr>
          <a:xfrm>
            <a:off x="6858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Schulbuch, Lexikon oder einer zweiten Webseite abgleichen.</a:t>
            </a:r>
            <a:endParaRPr lang="en-US" sz="1600" dirty="0"/>
          </a:p>
        </p:txBody>
      </p:sp>
      <p:sp>
        <p:nvSpPr>
          <p:cNvPr id="12" name="an6 Karte"/>
          <p:cNvSpPr/>
          <p:nvPr/>
        </p:nvSpPr>
        <p:spPr>
          <a:xfrm>
            <a:off x="6583680" y="47548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3" name="an6 Titel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mitdenken</a:t>
            </a:r>
            <a:endParaRPr lang="en-US" sz="2100" dirty="0"/>
          </a:p>
        </p:txBody>
      </p:sp>
      <p:sp>
        <p:nvSpPr>
          <p:cNvPr id="14" name="an6 Text"/>
          <p:cNvSpPr txBox="1"/>
          <p:nvPr/>
        </p:nvSpPr>
        <p:spPr>
          <a:xfrm>
            <a:off x="6858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das logisch? Im Zweifel die Lehrkraft fragen.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367628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7628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 BLEIBEN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Urheberrecht und Datenschutz</a:t>
            </a:r>
            <a:endParaRPr lang="en-US" sz="4000" dirty="0"/>
          </a:p>
        </p:txBody>
      </p:sp>
      <p:pic>
        <p:nvPicPr>
          <p:cNvPr id="4" name="an2 Icon" descr="/tmp/claude-0/-home-user-Thanos-ki/67e4cb18-13b6-593b-bbd8-624b7d1d5777/scratchpad/build/ic/i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731520" cy="731520"/>
          </a:xfrm>
          <a:prstGeom prst="rect">
            <a:avLst/>
          </a:prstGeom>
        </p:spPr>
      </p:pic>
      <p:sp>
        <p:nvSpPr>
          <p:cNvPr id="5" name="an2 Frage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Woher stammen die Informationen?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64008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KI-Paraphrase ersetzt keine Quellenangabe. Ich gebe an, woher meine Infos stammen.</a:t>
            </a:r>
            <a:endParaRPr lang="en-US" sz="1700" dirty="0"/>
          </a:p>
        </p:txBody>
      </p:sp>
      <p:pic>
        <p:nvPicPr>
          <p:cNvPr id="7" name="an3 Icon" descr="/tmp/claude-0/-home-user-Thanos-ki/67e4cb18-13b6-593b-bbd8-624b7d1d5777/scratchpad/build/ic/i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731520" cy="731520"/>
          </a:xfrm>
          <a:prstGeom prst="rect">
            <a:avLst/>
          </a:prstGeom>
        </p:spPr>
      </p:pic>
      <p:sp>
        <p:nvSpPr>
          <p:cNvPr id="8" name="an3 Frage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tatsächlich selbst gemacht?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stärker die KI am fertigen Produkt beteiligt war, desto wichtiger ist eine transparente Kennzeichnung.</a:t>
            </a:r>
            <a:endParaRPr lang="en-US" sz="1700" dirty="0"/>
          </a:p>
        </p:txBody>
      </p:sp>
      <p:pic>
        <p:nvPicPr>
          <p:cNvPr id="10" name="an4 Icon" descr="/tmp/claude-0/-home-user-Thanos-ki/67e4cb18-13b6-593b-bbd8-624b7d1d5777/scratchpad/build/ic/i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20240"/>
            <a:ext cx="731520" cy="731520"/>
          </a:xfrm>
          <a:prstGeom prst="rect">
            <a:avLst/>
          </a:prstGeom>
        </p:spPr>
      </p:pic>
      <p:sp>
        <p:nvSpPr>
          <p:cNvPr id="11" name="an4 Frage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gebe ich der KI preis?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81381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Namen, Adressen, Fotos oder Passwörter eingeben – Eingaben können gespeichert werden.</a:t>
            </a:r>
            <a:endParaRPr lang="en-US" sz="1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-2344029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-2344029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UM UNS HERUM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im Alltag</a:t>
            </a:r>
            <a:endParaRPr lang="en-US" sz="4000" dirty="0"/>
          </a:p>
        </p:txBody>
      </p:sp>
      <p:sp>
        <p:nvSpPr>
          <p:cNvPr id="4" name="an2 Überschrift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nutzen wir KI</a:t>
            </a:r>
            <a:endParaRPr lang="en-US" sz="2200" dirty="0"/>
          </a:p>
        </p:txBody>
      </p:sp>
      <p:pic>
        <p:nvPicPr>
          <p:cNvPr id="5" name="an2 Foto" descr="/tmp/claude-0/-home-user-Thanos-ki/67e4cb18-13b6-593b-bbd8-624b7d1d5777/scratchpad/orig/ppt/media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5120640" cy="2880360"/>
          </a:xfrm>
          <a:prstGeom prst="rect">
            <a:avLst/>
          </a:prstGeom>
        </p:spPr>
      </p:pic>
      <p:sp>
        <p:nvSpPr>
          <p:cNvPr id="6" name="an3 Nutzung 1"/>
          <p:cNvSpPr txBox="1"/>
          <p:nvPr/>
        </p:nvSpPr>
        <p:spPr>
          <a:xfrm>
            <a:off x="6400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Fragen beantworten</a:t>
            </a:r>
            <a:endParaRPr lang="en-US" sz="1900" dirty="0"/>
          </a:p>
        </p:txBody>
      </p:sp>
      <p:sp>
        <p:nvSpPr>
          <p:cNvPr id="7" name="an4 Nutzung 2"/>
          <p:cNvSpPr txBox="1"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Übersetzer</a:t>
            </a:r>
            <a:endParaRPr lang="en-US" sz="1900" dirty="0"/>
          </a:p>
        </p:txBody>
      </p:sp>
      <p:sp>
        <p:nvSpPr>
          <p:cNvPr id="8" name="an5 Überschrift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braucht KI</a:t>
            </a:r>
            <a:endParaRPr lang="en-US" sz="2200" dirty="0"/>
          </a:p>
        </p:txBody>
      </p:sp>
      <p:sp>
        <p:nvSpPr>
          <p:cNvPr id="9" name="an6 Kachel"/>
          <p:cNvSpPr/>
          <p:nvPr/>
        </p:nvSpPr>
        <p:spPr>
          <a:xfrm>
            <a:off x="658368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0" name="an6 Icon" descr="/tmp/claude-0/-home-user-Thanos-ki/67e4cb18-13b6-593b-bbd8-624b7d1d5777/scratchpad/build/ic/i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606040"/>
            <a:ext cx="594360" cy="594360"/>
          </a:xfrm>
          <a:prstGeom prst="rect">
            <a:avLst/>
          </a:prstGeom>
        </p:spPr>
      </p:pic>
      <p:sp>
        <p:nvSpPr>
          <p:cNvPr id="11" name="an6 Text"/>
          <p:cNvSpPr txBox="1"/>
          <p:nvPr/>
        </p:nvSpPr>
        <p:spPr>
          <a:xfrm>
            <a:off x="749808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500" dirty="0"/>
          </a:p>
        </p:txBody>
      </p:sp>
      <p:sp>
        <p:nvSpPr>
          <p:cNvPr id="12" name="an7 Kachel"/>
          <p:cNvSpPr/>
          <p:nvPr/>
        </p:nvSpPr>
        <p:spPr>
          <a:xfrm>
            <a:off x="914400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3" name="an7 Icon" descr="/tmp/claude-0/-home-user-Thanos-ki/67e4cb18-13b6-593b-bbd8-624b7d1d5777/scratchpad/build/ic/i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606040"/>
            <a:ext cx="594360" cy="594360"/>
          </a:xfrm>
          <a:prstGeom prst="rect">
            <a:avLst/>
          </a:prstGeom>
        </p:spPr>
      </p:pic>
      <p:sp>
        <p:nvSpPr>
          <p:cNvPr id="14" name="an7 Text"/>
          <p:cNvSpPr txBox="1"/>
          <p:nvPr/>
        </p:nvSpPr>
        <p:spPr>
          <a:xfrm>
            <a:off x="1005840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500" dirty="0"/>
          </a:p>
        </p:txBody>
      </p:sp>
      <p:sp>
        <p:nvSpPr>
          <p:cNvPr id="15" name="an8 Kachel"/>
          <p:cNvSpPr/>
          <p:nvPr/>
        </p:nvSpPr>
        <p:spPr>
          <a:xfrm>
            <a:off x="658368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6" name="an8 Icon" descr="/tmp/claude-0/-home-user-Thanos-ki/67e4cb18-13b6-593b-bbd8-624b7d1d5777/scratchpad/build/ic/i5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931920"/>
            <a:ext cx="594360" cy="594360"/>
          </a:xfrm>
          <a:prstGeom prst="rect">
            <a:avLst/>
          </a:prstGeom>
        </p:spPr>
      </p:pic>
      <p:sp>
        <p:nvSpPr>
          <p:cNvPr id="17" name="an8 Text"/>
          <p:cNvSpPr txBox="1"/>
          <p:nvPr/>
        </p:nvSpPr>
        <p:spPr>
          <a:xfrm>
            <a:off x="749808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500" dirty="0"/>
          </a:p>
        </p:txBody>
      </p:sp>
      <p:sp>
        <p:nvSpPr>
          <p:cNvPr id="18" name="an9 Kachel"/>
          <p:cNvSpPr/>
          <p:nvPr/>
        </p:nvSpPr>
        <p:spPr>
          <a:xfrm>
            <a:off x="914400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9" name="an9 Icon" descr="/tmp/claude-0/-home-user-Thanos-ki/67e4cb18-13b6-593b-bbd8-624b7d1d5777/scratchpad/build/ic/i5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931920"/>
            <a:ext cx="594360" cy="594360"/>
          </a:xfrm>
          <a:prstGeom prst="rect">
            <a:avLst/>
          </a:prstGeom>
        </p:spPr>
      </p:pic>
      <p:sp>
        <p:nvSpPr>
          <p:cNvPr id="20" name="an9 Text"/>
          <p:cNvSpPr txBox="1"/>
          <p:nvPr/>
        </p:nvSpPr>
        <p:spPr>
          <a:xfrm>
            <a:off x="1005840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Rechenzentren</a:t>
            </a:r>
            <a:endParaRPr lang="en-US" sz="1500" dirty="0"/>
          </a:p>
        </p:txBody>
      </p:sp>
      <p:sp>
        <p:nvSpPr>
          <p:cNvPr id="21" name="an10 Kachel"/>
          <p:cNvSpPr/>
          <p:nvPr/>
        </p:nvSpPr>
        <p:spPr>
          <a:xfrm>
            <a:off x="658368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22" name="an10 Icon" descr="/tmp/claude-0/-home-user-Thanos-ki/67e4cb18-13b6-593b-bbd8-624b7d1d5777/scratchpad/build/ic/i5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257800"/>
            <a:ext cx="594360" cy="594360"/>
          </a:xfrm>
          <a:prstGeom prst="rect">
            <a:avLst/>
          </a:prstGeom>
        </p:spPr>
      </p:pic>
      <p:sp>
        <p:nvSpPr>
          <p:cNvPr id="23" name="an10 Text"/>
          <p:cNvSpPr txBox="1"/>
          <p:nvPr/>
        </p:nvSpPr>
        <p:spPr>
          <a:xfrm>
            <a:off x="74980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</a:t>
            </a:r>
            <a:endParaRPr lang="en-US" sz="1500" dirty="0"/>
          </a:p>
        </p:txBody>
      </p:sp>
      <p:sp>
        <p:nvSpPr>
          <p:cNvPr id="24" name="an11 Kachel"/>
          <p:cNvSpPr/>
          <p:nvPr/>
        </p:nvSpPr>
        <p:spPr>
          <a:xfrm>
            <a:off x="914400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25" name="an11 Icon" descr="/tmp/claude-0/-home-user-Thanos-ki/67e4cb18-13b6-593b-bbd8-624b7d1d5777/scratchpad/build/ic/i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257800"/>
            <a:ext cx="594360" cy="594360"/>
          </a:xfrm>
          <a:prstGeom prst="rect">
            <a:avLst/>
          </a:prstGeom>
        </p:spPr>
      </p:pic>
      <p:sp>
        <p:nvSpPr>
          <p:cNvPr id="26" name="an11 Text"/>
          <p:cNvSpPr txBox="1"/>
          <p:nvPr/>
        </p:nvSpPr>
        <p:spPr>
          <a:xfrm>
            <a:off x="1005840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12893040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FÜR DIE SCHULE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Lernen mit KI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verschiedene KI-Programme</a:t>
            </a:r>
            <a:endParaRPr lang="en-US" sz="2200" dirty="0"/>
          </a:p>
        </p:txBody>
      </p:sp>
      <p:sp>
        <p:nvSpPr>
          <p:cNvPr id="5" name="an2 Text"/>
          <p:cNvSpPr txBox="1"/>
          <p:nvPr/>
        </p:nvSpPr>
        <p:spPr>
          <a:xfrm>
            <a:off x="64008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ChatGPT, Gemini oder Copilot</a:t>
            </a:r>
            <a:endParaRPr lang="en-US" sz="1800" dirty="0"/>
          </a:p>
        </p:txBody>
      </p:sp>
      <p:sp>
        <p:nvSpPr>
          <p:cNvPr id="6" name="an3 Aussage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kann Fragen beantworten, Listen erstellen und vieles mehr</a:t>
            </a:r>
            <a:endParaRPr lang="en-US" sz="2200" dirty="0"/>
          </a:p>
        </p:txBody>
      </p:sp>
      <p:sp>
        <p:nvSpPr>
          <p:cNvPr id="7" name="an3 Text"/>
          <p:cNvSpPr txBox="1"/>
          <p:nvPr/>
        </p:nvSpPr>
        <p:spPr>
          <a:xfrm>
            <a:off x="6400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zum Erklären, Üben und Wiederholen</a:t>
            </a:r>
            <a:endParaRPr lang="en-US" sz="1800" dirty="0"/>
          </a:p>
        </p:txBody>
      </p:sp>
      <p:sp>
        <p:nvSpPr>
          <p:cNvPr id="8" name="an4 Aussage"/>
          <p:cNvSpPr txBox="1"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hat Chancen und Risiken</a:t>
            </a:r>
            <a:endParaRPr lang="en-US" sz="2200" dirty="0"/>
          </a:p>
        </p:txBody>
      </p:sp>
      <p:sp>
        <p:nvSpPr>
          <p:cNvPr id="9" name="an4 Text"/>
          <p:cNvSpPr txBox="1"/>
          <p:nvPr/>
        </p:nvSpPr>
        <p:spPr>
          <a:xfrm>
            <a:off x="64008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hilft beim Lernen – ersetzt aber nicht das eigene Denken</a:t>
            </a:r>
            <a:endParaRPr lang="en-US" sz="1800" dirty="0"/>
          </a:p>
        </p:txBody>
      </p:sp>
      <p:pic>
        <p:nvPicPr>
          <p:cNvPr id="10" name="an5 Foto" descr="/tmp/claude-0/-home-user-Thanos-ki/67e4cb18-13b6-593b-bbd8-624b7d1d5777/scratchpad/orig/ppt/media/image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0"/>
            <a:ext cx="3749040" cy="21031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026288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26288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4069080"/>
              <a:ext cx="2834640" cy="283464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Hintergrundvideo">
            <a:hlinkClick r:id="" action="ppaction://media"/>
          </p:cNvPr>
          <p:cNvPicPr>
            <a:picLocks noChangeAspect="1"/>
          </p:cNvPicPr>
          <p:nvPr>
            <a:videoFile r:link="rId90"/>
            <p:extLst>
              <p:ext uri="{DAA4B4D4-6D71-4841-9C94-3DE7FCFB9230}">
                <p14:media xmlns:p14="http://schemas.microsoft.com/office/powerpoint/2010/main" r:embed="rId91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1" name="Abdunklun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42B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an1 Danke"/>
          <p:cNvSpPr txBox="1"/>
          <p:nvPr/>
        </p:nvSpPr>
        <p:spPr>
          <a:xfrm>
            <a:off x="475488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fürs Zuhören!</a:t>
            </a:r>
            <a:endParaRPr lang="en-US" sz="5000" dirty="0"/>
          </a:p>
        </p:txBody>
      </p:sp>
      <p:sp>
        <p:nvSpPr>
          <p:cNvPr id="3" name="an2 Fragen"/>
          <p:cNvSpPr txBox="1"/>
          <p:nvPr/>
        </p:nvSpPr>
        <p:spPr>
          <a:xfrm>
            <a:off x="475488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noch Fragen?</a:t>
            </a:r>
            <a:endParaRPr lang="en-US" sz="2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914400" y="1371600"/>
              <a:ext cx="2020824" cy="237744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020824" cy="237744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0" ay="1080000" az="-12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31946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4400" y="1371600"/>
                <a:ext cx="2020824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017520" y="1371600"/>
              <a:ext cx="1005840" cy="237744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005840" cy="237744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2100000" az="12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25434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017520" y="1371600"/>
                <a:ext cx="1005840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85800" y="4069080"/>
              <a:ext cx="2834640" cy="2834640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580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503920" y="3931920"/>
              <a:ext cx="3108960" cy="310896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12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03920" y="3931920"/>
                <a:ext cx="3108960" cy="310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</dc:title>
  <dc:subject>PptxGenJS Presentation</dc:subject>
  <dc:creator>PptxGenJS</dc:creator>
  <cp:lastModifiedBy>PptxGenJS</cp:lastModifiedBy>
  <cp:revision>1</cp:revision>
  <dcterms:created xsi:type="dcterms:W3CDTF">2026-10-22T13:10:32Z</dcterms:created>
  <dcterms:modified xsi:type="dcterms:W3CDTF">2026-10-22T13:10:32Z</dcterms:modified>
</cp:coreProperties>
</file>